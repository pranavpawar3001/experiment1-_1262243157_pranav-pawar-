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snapToObjects="1">
      <p:cViewPr varScale="1">
        <p:scale>
          <a:sx n="78" d="100"/>
          <a:sy n="78" d="100"/>
        </p:scale>
        <p:origin x="878"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211E"/>
        </a:solidFill>
        <a:effectLst/>
      </p:bgPr>
    </p:bg>
    <p:spTree>
      <p:nvGrpSpPr>
        <p:cNvPr id="1" name=""/>
        <p:cNvGrpSpPr/>
        <p:nvPr/>
      </p:nvGrpSpPr>
      <p:grpSpPr>
        <a:xfrm>
          <a:off x="0" y="0"/>
          <a:ext cx="0" cy="0"/>
          <a:chOff x="0" y="0"/>
          <a:chExt cx="0" cy="0"/>
        </a:xfrm>
      </p:grpSpPr>
      <p:sp>
        <p:nvSpPr>
          <p:cNvPr id="2" name="TextBox 1"/>
          <p:cNvSpPr txBox="1"/>
          <p:nvPr/>
        </p:nvSpPr>
        <p:spPr>
          <a:xfrm>
            <a:off x="822960" y="640080"/>
            <a:ext cx="7315200" cy="365760"/>
          </a:xfrm>
          <a:prstGeom prst="rect">
            <a:avLst/>
          </a:prstGeom>
          <a:noFill/>
        </p:spPr>
        <p:txBody>
          <a:bodyPr wrap="square" lIns="0" tIns="0" rIns="0" bIns="0" anchor="t">
            <a:spAutoFit/>
          </a:bodyPr>
          <a:lstStyle/>
          <a:p>
            <a:pPr algn="l"/>
            <a:r>
              <a:rPr sz="1250" b="0" i="0" spc="180">
                <a:solidFill>
                  <a:srgbClr val="D9A441"/>
                </a:solidFill>
                <a:latin typeface="Consolas"/>
              </a:rPr>
              <a:t>USER RESEARCH  ·  SUPERTAILS APP PERSONAS</a:t>
            </a:r>
          </a:p>
        </p:txBody>
      </p:sp>
      <p:sp>
        <p:nvSpPr>
          <p:cNvPr id="3" name="TextBox 2"/>
          <p:cNvSpPr txBox="1"/>
          <p:nvPr/>
        </p:nvSpPr>
        <p:spPr>
          <a:xfrm>
            <a:off x="777240" y="1371600"/>
            <a:ext cx="9601200" cy="1188720"/>
          </a:xfrm>
          <a:prstGeom prst="rect">
            <a:avLst/>
          </a:prstGeom>
          <a:noFill/>
        </p:spPr>
        <p:txBody>
          <a:bodyPr wrap="square" lIns="0" tIns="0" rIns="0" bIns="0" anchor="t">
            <a:spAutoFit/>
          </a:bodyPr>
          <a:lstStyle/>
          <a:p>
            <a:pPr algn="l"/>
            <a:r>
              <a:rPr sz="5200" b="1" i="0">
                <a:solidFill>
                  <a:srgbClr val="FBF7EF"/>
                </a:solidFill>
                <a:latin typeface="Century Gothic"/>
              </a:rPr>
              <a:t>Who's Actually</a:t>
            </a:r>
          </a:p>
        </p:txBody>
      </p:sp>
      <p:sp>
        <p:nvSpPr>
          <p:cNvPr id="4" name="TextBox 3"/>
          <p:cNvSpPr txBox="1"/>
          <p:nvPr/>
        </p:nvSpPr>
        <p:spPr>
          <a:xfrm>
            <a:off x="777240" y="2057400"/>
            <a:ext cx="10058400" cy="1188720"/>
          </a:xfrm>
          <a:prstGeom prst="rect">
            <a:avLst/>
          </a:prstGeom>
          <a:noFill/>
        </p:spPr>
        <p:txBody>
          <a:bodyPr wrap="square" lIns="0" tIns="0" rIns="0" bIns="0" anchor="t">
            <a:spAutoFit/>
          </a:bodyPr>
          <a:lstStyle/>
          <a:p>
            <a:pPr algn="l"/>
            <a:r>
              <a:rPr sz="5200" b="1" i="1">
                <a:solidFill>
                  <a:srgbClr val="E8785A"/>
                </a:solidFill>
                <a:latin typeface="Century Gothic"/>
              </a:rPr>
              <a:t>Holding the Leash?</a:t>
            </a:r>
          </a:p>
        </p:txBody>
      </p:sp>
      <p:sp>
        <p:nvSpPr>
          <p:cNvPr id="5" name="TextBox 4"/>
          <p:cNvSpPr txBox="1"/>
          <p:nvPr/>
        </p:nvSpPr>
        <p:spPr>
          <a:xfrm>
            <a:off x="822960" y="3063240"/>
            <a:ext cx="8686800" cy="548640"/>
          </a:xfrm>
          <a:prstGeom prst="rect">
            <a:avLst/>
          </a:prstGeom>
          <a:noFill/>
        </p:spPr>
        <p:txBody>
          <a:bodyPr wrap="square" lIns="0" tIns="0" rIns="0" bIns="0" anchor="t">
            <a:spAutoFit/>
          </a:bodyPr>
          <a:lstStyle/>
          <a:p>
            <a:pPr algn="l"/>
            <a:r>
              <a:rPr sz="1700" b="0" i="1">
                <a:solidFill>
                  <a:srgbClr val="C9C2AE"/>
                </a:solidFill>
                <a:latin typeface="Georgia"/>
              </a:rPr>
              <a:t>Five pet owners, five very different relationships with the Supertails app</a:t>
            </a:r>
          </a:p>
        </p:txBody>
      </p:sp>
      <p:cxnSp>
        <p:nvCxnSpPr>
          <p:cNvPr id="6" name="Connector 5"/>
          <p:cNvCxnSpPr/>
          <p:nvPr/>
        </p:nvCxnSpPr>
        <p:spPr>
          <a:xfrm>
            <a:off x="822960" y="4114800"/>
            <a:ext cx="10515600" cy="0"/>
          </a:xfrm>
          <a:prstGeom prst="line">
            <a:avLst/>
          </a:prstGeom>
          <a:ln w="19050">
            <a:solidFill>
              <a:srgbClr val="3C6E63"/>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960120" y="3886200"/>
            <a:ext cx="457200" cy="457200"/>
          </a:xfrm>
          <a:prstGeom prst="ellipse">
            <a:avLst/>
          </a:prstGeom>
          <a:solidFill>
            <a:srgbClr val="1F5C5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a:t>🐶</a:t>
            </a:r>
          </a:p>
        </p:txBody>
      </p:sp>
      <p:sp>
        <p:nvSpPr>
          <p:cNvPr id="8" name="TextBox 7"/>
          <p:cNvSpPr txBox="1"/>
          <p:nvPr/>
        </p:nvSpPr>
        <p:spPr>
          <a:xfrm>
            <a:off x="365760" y="4434840"/>
            <a:ext cx="1645920" cy="365760"/>
          </a:xfrm>
          <a:prstGeom prst="rect">
            <a:avLst/>
          </a:prstGeom>
          <a:noFill/>
        </p:spPr>
        <p:txBody>
          <a:bodyPr wrap="square" lIns="0" tIns="0" rIns="0" bIns="0" anchor="t">
            <a:spAutoFit/>
          </a:bodyPr>
          <a:lstStyle/>
          <a:p>
            <a:pPr algn="ctr"/>
            <a:r>
              <a:rPr sz="1050" b="0" i="0">
                <a:solidFill>
                  <a:srgbClr val="C9C2AE"/>
                </a:solidFill>
                <a:latin typeface="Consolas"/>
              </a:rPr>
              <a:t>Ritika Shah</a:t>
            </a:r>
          </a:p>
        </p:txBody>
      </p:sp>
      <p:sp>
        <p:nvSpPr>
          <p:cNvPr id="9" name="Oval 8"/>
          <p:cNvSpPr/>
          <p:nvPr/>
        </p:nvSpPr>
        <p:spPr>
          <a:xfrm>
            <a:off x="3017520" y="3886200"/>
            <a:ext cx="457200" cy="457200"/>
          </a:xfrm>
          <a:prstGeom prst="ellipse">
            <a:avLst/>
          </a:prstGeom>
          <a:solidFill>
            <a:srgbClr val="1F5C5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a:t>🐾</a:t>
            </a:r>
          </a:p>
        </p:txBody>
      </p:sp>
      <p:sp>
        <p:nvSpPr>
          <p:cNvPr id="10" name="TextBox 9"/>
          <p:cNvSpPr txBox="1"/>
          <p:nvPr/>
        </p:nvSpPr>
        <p:spPr>
          <a:xfrm>
            <a:off x="2423160" y="4434840"/>
            <a:ext cx="1645920" cy="365760"/>
          </a:xfrm>
          <a:prstGeom prst="rect">
            <a:avLst/>
          </a:prstGeom>
          <a:noFill/>
        </p:spPr>
        <p:txBody>
          <a:bodyPr wrap="square" lIns="0" tIns="0" rIns="0" bIns="0" anchor="t">
            <a:spAutoFit/>
          </a:bodyPr>
          <a:lstStyle/>
          <a:p>
            <a:pPr algn="ctr"/>
            <a:r>
              <a:rPr sz="1050" b="0" i="0">
                <a:solidFill>
                  <a:srgbClr val="C9C2AE"/>
                </a:solidFill>
                <a:latin typeface="Consolas"/>
              </a:rPr>
              <a:t>Arjun Mehta</a:t>
            </a:r>
          </a:p>
        </p:txBody>
      </p:sp>
      <p:sp>
        <p:nvSpPr>
          <p:cNvPr id="11" name="Oval 10"/>
          <p:cNvSpPr/>
          <p:nvPr/>
        </p:nvSpPr>
        <p:spPr>
          <a:xfrm>
            <a:off x="5074920" y="3886200"/>
            <a:ext cx="457200" cy="457200"/>
          </a:xfrm>
          <a:prstGeom prst="ellipse">
            <a:avLst/>
          </a:prstGeom>
          <a:solidFill>
            <a:srgbClr val="1F5C5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a:t>🐕</a:t>
            </a:r>
          </a:p>
        </p:txBody>
      </p:sp>
      <p:sp>
        <p:nvSpPr>
          <p:cNvPr id="12" name="TextBox 11"/>
          <p:cNvSpPr txBox="1"/>
          <p:nvPr/>
        </p:nvSpPr>
        <p:spPr>
          <a:xfrm>
            <a:off x="4480559" y="4434840"/>
            <a:ext cx="1645920" cy="365760"/>
          </a:xfrm>
          <a:prstGeom prst="rect">
            <a:avLst/>
          </a:prstGeom>
          <a:noFill/>
        </p:spPr>
        <p:txBody>
          <a:bodyPr wrap="square" lIns="0" tIns="0" rIns="0" bIns="0" anchor="t">
            <a:spAutoFit/>
          </a:bodyPr>
          <a:lstStyle/>
          <a:p>
            <a:pPr algn="ctr"/>
            <a:r>
              <a:rPr sz="1050" b="0" i="0">
                <a:solidFill>
                  <a:srgbClr val="C9C2AE"/>
                </a:solidFill>
                <a:latin typeface="Consolas"/>
              </a:rPr>
              <a:t>Kavita Nair</a:t>
            </a:r>
          </a:p>
        </p:txBody>
      </p:sp>
      <p:sp>
        <p:nvSpPr>
          <p:cNvPr id="13" name="Oval 12"/>
          <p:cNvSpPr/>
          <p:nvPr/>
        </p:nvSpPr>
        <p:spPr>
          <a:xfrm>
            <a:off x="7132320" y="3886200"/>
            <a:ext cx="457200" cy="457200"/>
          </a:xfrm>
          <a:prstGeom prst="ellipse">
            <a:avLst/>
          </a:prstGeom>
          <a:solidFill>
            <a:srgbClr val="1F5C5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a:t>🐄</a:t>
            </a:r>
          </a:p>
        </p:txBody>
      </p:sp>
      <p:sp>
        <p:nvSpPr>
          <p:cNvPr id="14" name="TextBox 13"/>
          <p:cNvSpPr txBox="1"/>
          <p:nvPr/>
        </p:nvSpPr>
        <p:spPr>
          <a:xfrm>
            <a:off x="6537960" y="4434840"/>
            <a:ext cx="1645920" cy="365760"/>
          </a:xfrm>
          <a:prstGeom prst="rect">
            <a:avLst/>
          </a:prstGeom>
          <a:noFill/>
        </p:spPr>
        <p:txBody>
          <a:bodyPr wrap="square" lIns="0" tIns="0" rIns="0" bIns="0" anchor="t">
            <a:spAutoFit/>
          </a:bodyPr>
          <a:lstStyle/>
          <a:p>
            <a:pPr algn="ctr"/>
            <a:r>
              <a:rPr sz="1050" b="0" i="0">
                <a:solidFill>
                  <a:srgbClr val="C9C2AE"/>
                </a:solidFill>
                <a:latin typeface="Consolas"/>
              </a:rPr>
              <a:t>Suresh Patil</a:t>
            </a:r>
          </a:p>
        </p:txBody>
      </p:sp>
      <p:sp>
        <p:nvSpPr>
          <p:cNvPr id="15" name="Oval 14"/>
          <p:cNvSpPr/>
          <p:nvPr/>
        </p:nvSpPr>
        <p:spPr>
          <a:xfrm>
            <a:off x="9189720" y="3886200"/>
            <a:ext cx="457200" cy="457200"/>
          </a:xfrm>
          <a:prstGeom prst="ellipse">
            <a:avLst/>
          </a:prstGeom>
          <a:solidFill>
            <a:srgbClr val="1F5C5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a:t>🐩</a:t>
            </a:r>
          </a:p>
        </p:txBody>
      </p:sp>
      <p:sp>
        <p:nvSpPr>
          <p:cNvPr id="16" name="TextBox 15"/>
          <p:cNvSpPr txBox="1"/>
          <p:nvPr/>
        </p:nvSpPr>
        <p:spPr>
          <a:xfrm>
            <a:off x="8595360" y="4434840"/>
            <a:ext cx="1645920" cy="365760"/>
          </a:xfrm>
          <a:prstGeom prst="rect">
            <a:avLst/>
          </a:prstGeom>
          <a:noFill/>
        </p:spPr>
        <p:txBody>
          <a:bodyPr wrap="square" lIns="0" tIns="0" rIns="0" bIns="0" anchor="t">
            <a:spAutoFit/>
          </a:bodyPr>
          <a:lstStyle/>
          <a:p>
            <a:pPr algn="ctr"/>
            <a:r>
              <a:rPr sz="1050" b="0" i="0">
                <a:solidFill>
                  <a:srgbClr val="C9C2AE"/>
                </a:solidFill>
                <a:latin typeface="Consolas"/>
              </a:rPr>
              <a:t>Naina Kapoor</a:t>
            </a:r>
          </a:p>
        </p:txBody>
      </p:sp>
      <p:sp>
        <p:nvSpPr>
          <p:cNvPr id="17" name="TextBox 16"/>
          <p:cNvSpPr txBox="1"/>
          <p:nvPr/>
        </p:nvSpPr>
        <p:spPr>
          <a:xfrm>
            <a:off x="822960" y="6126480"/>
            <a:ext cx="8229600" cy="365760"/>
          </a:xfrm>
          <a:prstGeom prst="rect">
            <a:avLst/>
          </a:prstGeom>
          <a:noFill/>
        </p:spPr>
        <p:txBody>
          <a:bodyPr wrap="square" lIns="0" tIns="0" rIns="0" bIns="0" anchor="t">
            <a:spAutoFit/>
          </a:bodyPr>
          <a:lstStyle/>
          <a:p>
            <a:pPr algn="l"/>
            <a:r>
              <a:rPr sz="1000" b="0" i="0" spc="100">
                <a:solidFill>
                  <a:srgbClr val="8F8368"/>
                </a:solidFill>
                <a:latin typeface="Consolas"/>
              </a:rPr>
              <a:t>DOMAIN: SUPERTAILS — INDIA'S PET CARE &amp; VETERINARY APP</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4211E"/>
        </a:solidFill>
        <a:effectLst/>
      </p:bgPr>
    </p:bg>
    <p:spTree>
      <p:nvGrpSpPr>
        <p:cNvPr id="1" name=""/>
        <p:cNvGrpSpPr/>
        <p:nvPr/>
      </p:nvGrpSpPr>
      <p:grpSpPr>
        <a:xfrm>
          <a:off x="0" y="0"/>
          <a:ext cx="0" cy="0"/>
          <a:chOff x="0" y="0"/>
          <a:chExt cx="0" cy="0"/>
        </a:xfrm>
      </p:grpSpPr>
      <p:sp>
        <p:nvSpPr>
          <p:cNvPr id="2" name="TextBox 1"/>
          <p:cNvSpPr txBox="1"/>
          <p:nvPr/>
        </p:nvSpPr>
        <p:spPr>
          <a:xfrm>
            <a:off x="502920" y="256032"/>
            <a:ext cx="7315200" cy="320040"/>
          </a:xfrm>
          <a:prstGeom prst="rect">
            <a:avLst/>
          </a:prstGeom>
          <a:noFill/>
        </p:spPr>
        <p:txBody>
          <a:bodyPr wrap="square" lIns="0" tIns="0" rIns="0" bIns="0" anchor="t">
            <a:spAutoFit/>
          </a:bodyPr>
          <a:lstStyle/>
          <a:p>
            <a:pPr algn="l"/>
            <a:r>
              <a:rPr sz="1100" b="0" i="0" spc="150">
                <a:solidFill>
                  <a:srgbClr val="D9A441"/>
                </a:solidFill>
                <a:latin typeface="Consolas"/>
              </a:rPr>
              <a:t>PET CARE PERSONA · RECORD 01</a:t>
            </a:r>
          </a:p>
        </p:txBody>
      </p:sp>
      <p:sp>
        <p:nvSpPr>
          <p:cNvPr id="3" name="Rounded Rectangle 2"/>
          <p:cNvSpPr/>
          <p:nvPr/>
        </p:nvSpPr>
        <p:spPr>
          <a:xfrm>
            <a:off x="502920" y="685800"/>
            <a:ext cx="11183112" cy="5989320"/>
          </a:xfrm>
          <a:prstGeom prst="roundRect">
            <a:avLst>
              <a:gd name="adj" fmla="val 3000"/>
            </a:avLst>
          </a:prstGeom>
          <a:solidFill>
            <a:srgbClr val="FB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02920" y="685800"/>
            <a:ext cx="11183112" cy="960120"/>
          </a:xfrm>
          <a:prstGeom prst="rect">
            <a:avLst/>
          </a:prstGeom>
          <a:solidFill>
            <a:srgbClr val="1F5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13816" y="882396"/>
            <a:ext cx="566928" cy="566928"/>
          </a:xfrm>
          <a:prstGeom prst="ellipse">
            <a:avLst/>
          </a:prstGeom>
          <a:solidFill>
            <a:srgbClr val="FBF7E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a:t>🐶</a:t>
            </a:r>
          </a:p>
        </p:txBody>
      </p:sp>
      <p:sp>
        <p:nvSpPr>
          <p:cNvPr id="6" name="TextBox 5"/>
          <p:cNvSpPr txBox="1"/>
          <p:nvPr/>
        </p:nvSpPr>
        <p:spPr>
          <a:xfrm>
            <a:off x="1463040" y="795528"/>
            <a:ext cx="5486400" cy="457200"/>
          </a:xfrm>
          <a:prstGeom prst="rect">
            <a:avLst/>
          </a:prstGeom>
          <a:noFill/>
        </p:spPr>
        <p:txBody>
          <a:bodyPr wrap="square" lIns="0" tIns="0" rIns="0" bIns="0" anchor="t">
            <a:spAutoFit/>
          </a:bodyPr>
          <a:lstStyle/>
          <a:p>
            <a:pPr algn="l"/>
            <a:r>
              <a:rPr sz="2400" b="1" i="0">
                <a:solidFill>
                  <a:srgbClr val="FBF7EF"/>
                </a:solidFill>
                <a:latin typeface="Century Gothic"/>
              </a:rPr>
              <a:t>Ritika Shah</a:t>
            </a:r>
          </a:p>
        </p:txBody>
      </p:sp>
      <p:sp>
        <p:nvSpPr>
          <p:cNvPr id="7" name="TextBox 6"/>
          <p:cNvSpPr txBox="1"/>
          <p:nvPr/>
        </p:nvSpPr>
        <p:spPr>
          <a:xfrm>
            <a:off x="1463040" y="1252728"/>
            <a:ext cx="6400800" cy="320040"/>
          </a:xfrm>
          <a:prstGeom prst="rect">
            <a:avLst/>
          </a:prstGeom>
          <a:noFill/>
        </p:spPr>
        <p:txBody>
          <a:bodyPr wrap="square" lIns="0" tIns="0" rIns="0" bIns="0" anchor="t">
            <a:spAutoFit/>
          </a:bodyPr>
          <a:lstStyle/>
          <a:p>
            <a:pPr algn="l"/>
            <a:r>
              <a:rPr sz="1100" b="0" i="0" spc="100">
                <a:solidFill>
                  <a:srgbClr val="CFE4DF"/>
                </a:solidFill>
                <a:latin typeface="Consolas"/>
              </a:rPr>
              <a:t>MARKETING ASSOCIATE · MUMBAI</a:t>
            </a:r>
          </a:p>
        </p:txBody>
      </p:sp>
      <p:sp>
        <p:nvSpPr>
          <p:cNvPr id="8" name="TextBox 7"/>
          <p:cNvSpPr txBox="1"/>
          <p:nvPr/>
        </p:nvSpPr>
        <p:spPr>
          <a:xfrm>
            <a:off x="8851392" y="850392"/>
            <a:ext cx="2468880" cy="320040"/>
          </a:xfrm>
          <a:prstGeom prst="rect">
            <a:avLst/>
          </a:prstGeom>
          <a:noFill/>
        </p:spPr>
        <p:txBody>
          <a:bodyPr wrap="square" lIns="0" tIns="0" rIns="0" bIns="0" anchor="t">
            <a:spAutoFit/>
          </a:bodyPr>
          <a:lstStyle/>
          <a:p>
            <a:pPr algn="r"/>
            <a:r>
              <a:rPr sz="1050" b="0" i="0">
                <a:solidFill>
                  <a:srgbClr val="D9A441"/>
                </a:solidFill>
                <a:latin typeface="Consolas"/>
              </a:rPr>
              <a:t>RECORD NO. PC-01001</a:t>
            </a:r>
          </a:p>
        </p:txBody>
      </p:sp>
      <p:sp>
        <p:nvSpPr>
          <p:cNvPr id="9" name="TextBox 8"/>
          <p:cNvSpPr txBox="1"/>
          <p:nvPr/>
        </p:nvSpPr>
        <p:spPr>
          <a:xfrm>
            <a:off x="8851392" y="1216152"/>
            <a:ext cx="2468880" cy="320040"/>
          </a:xfrm>
          <a:prstGeom prst="rect">
            <a:avLst/>
          </a:prstGeom>
          <a:noFill/>
        </p:spPr>
        <p:txBody>
          <a:bodyPr wrap="square" lIns="0" tIns="0" rIns="0" bIns="0" anchor="t">
            <a:spAutoFit/>
          </a:bodyPr>
          <a:lstStyle/>
          <a:p>
            <a:pPr algn="r"/>
            <a:r>
              <a:rPr sz="1050" b="1" i="0">
                <a:solidFill>
                  <a:srgbClr val="FBF7EF"/>
                </a:solidFill>
                <a:latin typeface="Consolas"/>
              </a:rPr>
              <a:t>STATUS: ACTIVE PROFILE</a:t>
            </a:r>
          </a:p>
        </p:txBody>
      </p:sp>
      <p:cxnSp>
        <p:nvCxnSpPr>
          <p:cNvPr id="10" name="Connector 9"/>
          <p:cNvCxnSpPr/>
          <p:nvPr/>
        </p:nvCxnSpPr>
        <p:spPr>
          <a:xfrm>
            <a:off x="640080" y="1664208"/>
            <a:ext cx="10908792" cy="0"/>
          </a:xfrm>
          <a:prstGeom prst="line">
            <a:avLst/>
          </a:prstGeom>
          <a:ln w="15875">
            <a:solidFill>
              <a:srgbClr val="B9AE93"/>
            </a:solidFill>
            <a:prstDash val="dash"/>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005840" y="1792224"/>
            <a:ext cx="457200" cy="548640"/>
          </a:xfrm>
          <a:prstGeom prst="rect">
            <a:avLst/>
          </a:prstGeom>
          <a:noFill/>
        </p:spPr>
        <p:txBody>
          <a:bodyPr wrap="square" lIns="0" tIns="0" rIns="0" bIns="0" anchor="t">
            <a:spAutoFit/>
          </a:bodyPr>
          <a:lstStyle/>
          <a:p>
            <a:pPr algn="l"/>
            <a:r>
              <a:rPr sz="3400" b="1" i="0">
                <a:solidFill>
                  <a:srgbClr val="E8785A"/>
                </a:solidFill>
                <a:latin typeface="Georgia"/>
              </a:rPr>
              <a:t>“</a:t>
            </a:r>
          </a:p>
        </p:txBody>
      </p:sp>
      <p:sp>
        <p:nvSpPr>
          <p:cNvPr id="12" name="TextBox 11"/>
          <p:cNvSpPr txBox="1"/>
          <p:nvPr/>
        </p:nvSpPr>
        <p:spPr>
          <a:xfrm>
            <a:off x="1463040" y="1837944"/>
            <a:ext cx="9720072" cy="594360"/>
          </a:xfrm>
          <a:prstGeom prst="rect">
            <a:avLst/>
          </a:prstGeom>
          <a:noFill/>
        </p:spPr>
        <p:txBody>
          <a:bodyPr wrap="square" lIns="0" tIns="0" rIns="0" bIns="0" anchor="t">
            <a:spAutoFit/>
          </a:bodyPr>
          <a:lstStyle/>
          <a:p>
            <a:pPr algn="l">
              <a:lnSpc>
                <a:spcPct val="115000"/>
              </a:lnSpc>
            </a:pPr>
            <a:r>
              <a:rPr sz="1350" b="0" i="1">
                <a:solidFill>
                  <a:srgbClr val="2E2A24"/>
                </a:solidFill>
                <a:latin typeface="Georgia"/>
              </a:rPr>
              <a:t>The chat vet answered in minutes, but the app's login loop nearly made me give up before I even got there.</a:t>
            </a:r>
          </a:p>
        </p:txBody>
      </p:sp>
      <p:cxnSp>
        <p:nvCxnSpPr>
          <p:cNvPr id="13" name="Connector 12"/>
          <p:cNvCxnSpPr/>
          <p:nvPr/>
        </p:nvCxnSpPr>
        <p:spPr>
          <a:xfrm>
            <a:off x="640080" y="2569464"/>
            <a:ext cx="10908792" cy="0"/>
          </a:xfrm>
          <a:prstGeom prst="line">
            <a:avLst/>
          </a:prstGeom>
          <a:ln w="15875">
            <a:solidFill>
              <a:srgbClr val="B9AE93"/>
            </a:solidFill>
            <a:prstDash val="dash"/>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85800" y="2679192"/>
            <a:ext cx="3468624" cy="201168"/>
          </a:xfrm>
          <a:prstGeom prst="rect">
            <a:avLst/>
          </a:prstGeom>
          <a:noFill/>
        </p:spPr>
        <p:txBody>
          <a:bodyPr wrap="square" lIns="0" tIns="0" rIns="0" bIns="0" anchor="t">
            <a:spAutoFit/>
          </a:bodyPr>
          <a:lstStyle/>
          <a:p>
            <a:pPr algn="l"/>
            <a:r>
              <a:rPr sz="950" b="0" i="0" spc="60">
                <a:solidFill>
                  <a:srgbClr val="8F8368"/>
                </a:solidFill>
                <a:latin typeface="Consolas"/>
              </a:rPr>
              <a:t>AGE</a:t>
            </a:r>
          </a:p>
        </p:txBody>
      </p:sp>
      <p:sp>
        <p:nvSpPr>
          <p:cNvPr id="15" name="TextBox 14"/>
          <p:cNvSpPr txBox="1"/>
          <p:nvPr/>
        </p:nvSpPr>
        <p:spPr>
          <a:xfrm>
            <a:off x="685800" y="2898648"/>
            <a:ext cx="3468624" cy="320040"/>
          </a:xfrm>
          <a:prstGeom prst="rect">
            <a:avLst/>
          </a:prstGeom>
          <a:noFill/>
        </p:spPr>
        <p:txBody>
          <a:bodyPr wrap="square" lIns="0" tIns="0" rIns="0" bIns="0" anchor="t">
            <a:spAutoFit/>
          </a:bodyPr>
          <a:lstStyle/>
          <a:p>
            <a:pPr algn="l"/>
            <a:r>
              <a:rPr sz="1250" b="1" i="0">
                <a:solidFill>
                  <a:srgbClr val="2E2A24"/>
                </a:solidFill>
                <a:latin typeface="Century Gothic"/>
              </a:rPr>
              <a:t>26</a:t>
            </a:r>
          </a:p>
        </p:txBody>
      </p:sp>
      <p:cxnSp>
        <p:nvCxnSpPr>
          <p:cNvPr id="16" name="Connector 15"/>
          <p:cNvCxnSpPr/>
          <p:nvPr/>
        </p:nvCxnSpPr>
        <p:spPr>
          <a:xfrm>
            <a:off x="0" y="2679192"/>
            <a:ext cx="0" cy="493776"/>
          </a:xfrm>
          <a:prstGeom prst="line">
            <a:avLst/>
          </a:prstGeom>
          <a:ln w="9525">
            <a:solidFill>
              <a:srgbClr val="D8CFB8"/>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291584" y="2679192"/>
            <a:ext cx="3468624" cy="201168"/>
          </a:xfrm>
          <a:prstGeom prst="rect">
            <a:avLst/>
          </a:prstGeom>
          <a:noFill/>
        </p:spPr>
        <p:txBody>
          <a:bodyPr wrap="square" lIns="0" tIns="0" rIns="0" bIns="0" anchor="t">
            <a:spAutoFit/>
          </a:bodyPr>
          <a:lstStyle/>
          <a:p>
            <a:pPr algn="l"/>
            <a:r>
              <a:rPr sz="950" b="0" i="0" spc="60">
                <a:solidFill>
                  <a:srgbClr val="8F8368"/>
                </a:solidFill>
                <a:latin typeface="Consolas"/>
              </a:rPr>
              <a:t>OCCUPATION</a:t>
            </a:r>
          </a:p>
        </p:txBody>
      </p:sp>
      <p:sp>
        <p:nvSpPr>
          <p:cNvPr id="18" name="TextBox 17"/>
          <p:cNvSpPr txBox="1"/>
          <p:nvPr/>
        </p:nvSpPr>
        <p:spPr>
          <a:xfrm>
            <a:off x="4291584" y="2898648"/>
            <a:ext cx="3468624" cy="320040"/>
          </a:xfrm>
          <a:prstGeom prst="rect">
            <a:avLst/>
          </a:prstGeom>
          <a:noFill/>
        </p:spPr>
        <p:txBody>
          <a:bodyPr wrap="square" lIns="0" tIns="0" rIns="0" bIns="0" anchor="t">
            <a:spAutoFit/>
          </a:bodyPr>
          <a:lstStyle/>
          <a:p>
            <a:pPr algn="l"/>
            <a:r>
              <a:rPr sz="1250" b="1" i="0">
                <a:solidFill>
                  <a:srgbClr val="2E2A24"/>
                </a:solidFill>
                <a:latin typeface="Century Gothic"/>
              </a:rPr>
              <a:t>Marketing Associate</a:t>
            </a:r>
          </a:p>
        </p:txBody>
      </p:sp>
      <p:cxnSp>
        <p:nvCxnSpPr>
          <p:cNvPr id="19" name="Connector 18"/>
          <p:cNvCxnSpPr/>
          <p:nvPr/>
        </p:nvCxnSpPr>
        <p:spPr>
          <a:xfrm>
            <a:off x="0" y="2679192"/>
            <a:ext cx="0" cy="493776"/>
          </a:xfrm>
          <a:prstGeom prst="line">
            <a:avLst/>
          </a:prstGeom>
          <a:ln w="9525">
            <a:solidFill>
              <a:srgbClr val="D8CFB8"/>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897368" y="2679192"/>
            <a:ext cx="3468624" cy="201168"/>
          </a:xfrm>
          <a:prstGeom prst="rect">
            <a:avLst/>
          </a:prstGeom>
          <a:noFill/>
        </p:spPr>
        <p:txBody>
          <a:bodyPr wrap="square" lIns="0" tIns="0" rIns="0" bIns="0" anchor="t">
            <a:spAutoFit/>
          </a:bodyPr>
          <a:lstStyle/>
          <a:p>
            <a:pPr algn="l"/>
            <a:r>
              <a:rPr sz="950" b="0" i="0" spc="60">
                <a:solidFill>
                  <a:srgbClr val="8F8368"/>
                </a:solidFill>
                <a:latin typeface="Consolas"/>
              </a:rPr>
              <a:t>LOCATION</a:t>
            </a:r>
          </a:p>
        </p:txBody>
      </p:sp>
      <p:sp>
        <p:nvSpPr>
          <p:cNvPr id="21" name="TextBox 20"/>
          <p:cNvSpPr txBox="1"/>
          <p:nvPr/>
        </p:nvSpPr>
        <p:spPr>
          <a:xfrm>
            <a:off x="7897368" y="2898648"/>
            <a:ext cx="3468624" cy="320040"/>
          </a:xfrm>
          <a:prstGeom prst="rect">
            <a:avLst/>
          </a:prstGeom>
          <a:noFill/>
        </p:spPr>
        <p:txBody>
          <a:bodyPr wrap="square" lIns="0" tIns="0" rIns="0" bIns="0" anchor="t">
            <a:spAutoFit/>
          </a:bodyPr>
          <a:lstStyle/>
          <a:p>
            <a:pPr algn="l"/>
            <a:r>
              <a:rPr sz="1250" b="1" i="0">
                <a:solidFill>
                  <a:srgbClr val="2E2A24"/>
                </a:solidFill>
                <a:latin typeface="Century Gothic"/>
              </a:rPr>
              <a:t>Mumbai</a:t>
            </a:r>
          </a:p>
        </p:txBody>
      </p:sp>
      <p:sp>
        <p:nvSpPr>
          <p:cNvPr id="22" name="TextBox 21"/>
          <p:cNvSpPr txBox="1"/>
          <p:nvPr/>
        </p:nvSpPr>
        <p:spPr>
          <a:xfrm>
            <a:off x="685800" y="3246120"/>
            <a:ext cx="3468624" cy="201168"/>
          </a:xfrm>
          <a:prstGeom prst="rect">
            <a:avLst/>
          </a:prstGeom>
          <a:noFill/>
        </p:spPr>
        <p:txBody>
          <a:bodyPr wrap="square" lIns="0" tIns="0" rIns="0" bIns="0" anchor="t">
            <a:spAutoFit/>
          </a:bodyPr>
          <a:lstStyle/>
          <a:p>
            <a:pPr algn="l"/>
            <a:r>
              <a:rPr sz="950" b="0" i="0" spc="60">
                <a:solidFill>
                  <a:srgbClr val="8F8368"/>
                </a:solidFill>
                <a:latin typeface="Consolas"/>
              </a:rPr>
              <a:t>TECH COMFORT</a:t>
            </a:r>
          </a:p>
        </p:txBody>
      </p:sp>
      <p:sp>
        <p:nvSpPr>
          <p:cNvPr id="23" name="TextBox 22"/>
          <p:cNvSpPr txBox="1"/>
          <p:nvPr/>
        </p:nvSpPr>
        <p:spPr>
          <a:xfrm>
            <a:off x="685800" y="3465576"/>
            <a:ext cx="3468624" cy="320040"/>
          </a:xfrm>
          <a:prstGeom prst="rect">
            <a:avLst/>
          </a:prstGeom>
          <a:noFill/>
        </p:spPr>
        <p:txBody>
          <a:bodyPr wrap="square" lIns="0" tIns="0" rIns="0" bIns="0" anchor="t">
            <a:spAutoFit/>
          </a:bodyPr>
          <a:lstStyle/>
          <a:p>
            <a:pPr algn="l"/>
            <a:r>
              <a:rPr sz="1250" b="1" i="0">
                <a:solidFill>
                  <a:srgbClr val="2E2A24"/>
                </a:solidFill>
                <a:latin typeface="Century Gothic"/>
              </a:rPr>
              <a:t>Low — first-time pet owner</a:t>
            </a:r>
          </a:p>
        </p:txBody>
      </p:sp>
      <p:cxnSp>
        <p:nvCxnSpPr>
          <p:cNvPr id="24" name="Connector 23"/>
          <p:cNvCxnSpPr/>
          <p:nvPr/>
        </p:nvCxnSpPr>
        <p:spPr>
          <a:xfrm>
            <a:off x="0" y="3246120"/>
            <a:ext cx="0" cy="493776"/>
          </a:xfrm>
          <a:prstGeom prst="line">
            <a:avLst/>
          </a:prstGeom>
          <a:ln w="9525">
            <a:solidFill>
              <a:srgbClr val="D8CFB8"/>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4291584" y="3246120"/>
            <a:ext cx="3468624" cy="201168"/>
          </a:xfrm>
          <a:prstGeom prst="rect">
            <a:avLst/>
          </a:prstGeom>
          <a:noFill/>
        </p:spPr>
        <p:txBody>
          <a:bodyPr wrap="square" lIns="0" tIns="0" rIns="0" bIns="0" anchor="t">
            <a:spAutoFit/>
          </a:bodyPr>
          <a:lstStyle/>
          <a:p>
            <a:pPr algn="l"/>
            <a:r>
              <a:rPr sz="950" b="0" i="0" spc="60">
                <a:solidFill>
                  <a:srgbClr val="8F8368"/>
                </a:solidFill>
                <a:latin typeface="Consolas"/>
              </a:rPr>
              <a:t>VET VISITS / YEAR</a:t>
            </a:r>
          </a:p>
        </p:txBody>
      </p:sp>
      <p:sp>
        <p:nvSpPr>
          <p:cNvPr id="26" name="TextBox 25"/>
          <p:cNvSpPr txBox="1"/>
          <p:nvPr/>
        </p:nvSpPr>
        <p:spPr>
          <a:xfrm>
            <a:off x="4291584" y="3465576"/>
            <a:ext cx="3468624" cy="320040"/>
          </a:xfrm>
          <a:prstGeom prst="rect">
            <a:avLst/>
          </a:prstGeom>
          <a:noFill/>
        </p:spPr>
        <p:txBody>
          <a:bodyPr wrap="square" lIns="0" tIns="0" rIns="0" bIns="0" anchor="t">
            <a:spAutoFit/>
          </a:bodyPr>
          <a:lstStyle/>
          <a:p>
            <a:pPr algn="l"/>
            <a:r>
              <a:rPr sz="1250" b="1" i="0">
                <a:solidFill>
                  <a:srgbClr val="2E2A24"/>
                </a:solidFill>
                <a:latin typeface="Century Gothic"/>
              </a:rPr>
              <a:t>Every 3-4 weeks (puppy schedule)</a:t>
            </a:r>
          </a:p>
        </p:txBody>
      </p:sp>
      <p:cxnSp>
        <p:nvCxnSpPr>
          <p:cNvPr id="27" name="Connector 26"/>
          <p:cNvCxnSpPr/>
          <p:nvPr/>
        </p:nvCxnSpPr>
        <p:spPr>
          <a:xfrm>
            <a:off x="0" y="3246120"/>
            <a:ext cx="0" cy="493776"/>
          </a:xfrm>
          <a:prstGeom prst="line">
            <a:avLst/>
          </a:prstGeom>
          <a:ln w="9525">
            <a:solidFill>
              <a:srgbClr val="D8CFB8"/>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7897368" y="3246120"/>
            <a:ext cx="3468624" cy="201168"/>
          </a:xfrm>
          <a:prstGeom prst="rect">
            <a:avLst/>
          </a:prstGeom>
          <a:noFill/>
        </p:spPr>
        <p:txBody>
          <a:bodyPr wrap="square" lIns="0" tIns="0" rIns="0" bIns="0" anchor="t">
            <a:spAutoFit/>
          </a:bodyPr>
          <a:lstStyle/>
          <a:p>
            <a:pPr algn="l"/>
            <a:r>
              <a:rPr sz="950" b="0" i="0" spc="60">
                <a:solidFill>
                  <a:srgbClr val="8F8368"/>
                </a:solidFill>
                <a:latin typeface="Consolas"/>
              </a:rPr>
              <a:t>PET(S)</a:t>
            </a:r>
          </a:p>
        </p:txBody>
      </p:sp>
      <p:sp>
        <p:nvSpPr>
          <p:cNvPr id="29" name="TextBox 28"/>
          <p:cNvSpPr txBox="1"/>
          <p:nvPr/>
        </p:nvSpPr>
        <p:spPr>
          <a:xfrm>
            <a:off x="7897368" y="3465576"/>
            <a:ext cx="3468624" cy="320040"/>
          </a:xfrm>
          <a:prstGeom prst="rect">
            <a:avLst/>
          </a:prstGeom>
          <a:noFill/>
        </p:spPr>
        <p:txBody>
          <a:bodyPr wrap="square" lIns="0" tIns="0" rIns="0" bIns="0" anchor="t">
            <a:spAutoFit/>
          </a:bodyPr>
          <a:lstStyle/>
          <a:p>
            <a:pPr algn="l"/>
            <a:r>
              <a:rPr sz="1250" b="1" i="0">
                <a:solidFill>
                  <a:srgbClr val="2E2A24"/>
                </a:solidFill>
                <a:latin typeface="Century Gothic"/>
              </a:rPr>
              <a:t>1 Labrador Puppy (4 months)</a:t>
            </a:r>
          </a:p>
        </p:txBody>
      </p:sp>
      <p:cxnSp>
        <p:nvCxnSpPr>
          <p:cNvPr id="30" name="Connector 29"/>
          <p:cNvCxnSpPr/>
          <p:nvPr/>
        </p:nvCxnSpPr>
        <p:spPr>
          <a:xfrm>
            <a:off x="640080" y="3867912"/>
            <a:ext cx="10908792" cy="0"/>
          </a:xfrm>
          <a:prstGeom prst="line">
            <a:avLst/>
          </a:prstGeom>
          <a:ln w="15875">
            <a:solidFill>
              <a:srgbClr val="B9AE93"/>
            </a:solidFill>
            <a:prstDash val="dash"/>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694944" y="3995928"/>
            <a:ext cx="310896" cy="310896"/>
          </a:xfrm>
          <a:prstGeom prst="ellipse">
            <a:avLst/>
          </a:prstGeom>
          <a:solidFill>
            <a:srgbClr val="2F7A6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a:t>🎯</a:t>
            </a:r>
          </a:p>
        </p:txBody>
      </p:sp>
      <p:sp>
        <p:nvSpPr>
          <p:cNvPr id="32" name="TextBox 31"/>
          <p:cNvSpPr txBox="1"/>
          <p:nvPr/>
        </p:nvSpPr>
        <p:spPr>
          <a:xfrm>
            <a:off x="1069848" y="4032504"/>
            <a:ext cx="3057144" cy="292608"/>
          </a:xfrm>
          <a:prstGeom prst="rect">
            <a:avLst/>
          </a:prstGeom>
          <a:noFill/>
        </p:spPr>
        <p:txBody>
          <a:bodyPr wrap="square" lIns="0" tIns="0" rIns="0" bIns="0" anchor="t">
            <a:spAutoFit/>
          </a:bodyPr>
          <a:lstStyle/>
          <a:p>
            <a:pPr algn="l"/>
            <a:r>
              <a:rPr sz="1450" b="1" i="0">
                <a:solidFill>
                  <a:srgbClr val="1F5C52"/>
                </a:solidFill>
                <a:latin typeface="Century Gothic"/>
              </a:rPr>
              <a:t>Goals</a:t>
            </a:r>
          </a:p>
        </p:txBody>
      </p:sp>
      <p:sp>
        <p:nvSpPr>
          <p:cNvPr id="33" name="TextBox 32"/>
          <p:cNvSpPr txBox="1"/>
          <p:nvPr/>
        </p:nvSpPr>
        <p:spPr>
          <a:xfrm>
            <a:off x="685800" y="4471416"/>
            <a:ext cx="3331464" cy="2020824"/>
          </a:xfrm>
          <a:prstGeom prst="rect">
            <a:avLst/>
          </a:prstGeom>
          <a:noFill/>
        </p:spPr>
        <p:txBody>
          <a:bodyPr wrap="square" lIns="0" tIns="0" rIns="0" bIns="0">
            <a:spAutoFit/>
          </a:bodyPr>
          <a:lstStyle/>
          <a:p>
            <a:pPr>
              <a:lnSpc>
                <a:spcPct val="105000"/>
              </a:lnSpc>
              <a:spcAft>
                <a:spcPts val="500"/>
              </a:spcAft>
            </a:pPr>
            <a:r>
              <a:rPr sz="1050" b="1">
                <a:solidFill>
                  <a:srgbClr val="E8785A"/>
                </a:solidFill>
                <a:latin typeface="Georgia"/>
              </a:rPr>
              <a:t>•  </a:t>
            </a:r>
            <a:r>
              <a:rPr sz="1050">
                <a:solidFill>
                  <a:srgbClr val="2E2A24"/>
                </a:solidFill>
                <a:latin typeface="Georgia"/>
              </a:rPr>
              <a:t>Get quick vet chat advice for a new puppy</a:t>
            </a:r>
          </a:p>
          <a:p>
            <a:pPr>
              <a:lnSpc>
                <a:spcPct val="105000"/>
              </a:lnSpc>
              <a:spcAft>
                <a:spcPts val="500"/>
              </a:spcAft>
            </a:pPr>
            <a:r>
              <a:rPr sz="1050" b="1">
                <a:solidFill>
                  <a:srgbClr val="E8785A"/>
                </a:solidFill>
                <a:latin typeface="Georgia"/>
              </a:rPr>
              <a:t>•  </a:t>
            </a:r>
            <a:r>
              <a:rPr sz="1050">
                <a:solidFill>
                  <a:srgbClr val="2E2A24"/>
                </a:solidFill>
                <a:latin typeface="Georgia"/>
              </a:rPr>
              <a:t>Order the right starter medicines and food</a:t>
            </a:r>
          </a:p>
          <a:p>
            <a:pPr>
              <a:lnSpc>
                <a:spcPct val="105000"/>
              </a:lnSpc>
              <a:spcAft>
                <a:spcPts val="500"/>
              </a:spcAft>
            </a:pPr>
            <a:r>
              <a:rPr sz="1050" b="1">
                <a:solidFill>
                  <a:srgbClr val="E8785A"/>
                </a:solidFill>
                <a:latin typeface="Georgia"/>
              </a:rPr>
              <a:t>•  </a:t>
            </a:r>
            <a:r>
              <a:rPr sz="1050">
                <a:solidFill>
                  <a:srgbClr val="2E2A24"/>
                </a:solidFill>
                <a:latin typeface="Georgia"/>
              </a:rPr>
              <a:t>Understand her puppy's vaccination schedule</a:t>
            </a:r>
          </a:p>
          <a:p>
            <a:pPr>
              <a:lnSpc>
                <a:spcPct val="105000"/>
              </a:lnSpc>
              <a:spcAft>
                <a:spcPts val="500"/>
              </a:spcAft>
            </a:pPr>
            <a:r>
              <a:rPr sz="1050" b="1">
                <a:solidFill>
                  <a:srgbClr val="E8785A"/>
                </a:solidFill>
                <a:latin typeface="Georgia"/>
              </a:rPr>
              <a:t>•  </a:t>
            </a:r>
            <a:r>
              <a:rPr sz="1050">
                <a:solidFill>
                  <a:srgbClr val="2E2A24"/>
                </a:solidFill>
                <a:latin typeface="Georgia"/>
              </a:rPr>
              <a:t>Feel reassured she's doing this right</a:t>
            </a:r>
          </a:p>
        </p:txBody>
      </p:sp>
      <p:cxnSp>
        <p:nvCxnSpPr>
          <p:cNvPr id="34" name="Connector 33"/>
          <p:cNvCxnSpPr/>
          <p:nvPr/>
        </p:nvCxnSpPr>
        <p:spPr>
          <a:xfrm>
            <a:off x="0" y="4014216"/>
            <a:ext cx="0" cy="2478024"/>
          </a:xfrm>
          <a:prstGeom prst="line">
            <a:avLst/>
          </a:prstGeom>
          <a:ln w="12700">
            <a:solidFill>
              <a:srgbClr val="D8CFB8"/>
            </a:solidFill>
            <a:prstDash val="dash"/>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4300728" y="3995928"/>
            <a:ext cx="310896" cy="310896"/>
          </a:xfrm>
          <a:prstGeom prst="ellipse">
            <a:avLst/>
          </a:prstGeom>
          <a:solidFill>
            <a:srgbClr val="2F7A6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a:t>⚠</a:t>
            </a:r>
          </a:p>
        </p:txBody>
      </p:sp>
      <p:sp>
        <p:nvSpPr>
          <p:cNvPr id="36" name="TextBox 35"/>
          <p:cNvSpPr txBox="1"/>
          <p:nvPr/>
        </p:nvSpPr>
        <p:spPr>
          <a:xfrm>
            <a:off x="4675632" y="4032504"/>
            <a:ext cx="3057144" cy="292608"/>
          </a:xfrm>
          <a:prstGeom prst="rect">
            <a:avLst/>
          </a:prstGeom>
          <a:noFill/>
        </p:spPr>
        <p:txBody>
          <a:bodyPr wrap="square" lIns="0" tIns="0" rIns="0" bIns="0" anchor="t">
            <a:spAutoFit/>
          </a:bodyPr>
          <a:lstStyle/>
          <a:p>
            <a:pPr algn="l"/>
            <a:r>
              <a:rPr sz="1450" b="1" i="0">
                <a:solidFill>
                  <a:srgbClr val="1F5C52"/>
                </a:solidFill>
                <a:latin typeface="Century Gothic"/>
              </a:rPr>
              <a:t>Frustrations</a:t>
            </a:r>
          </a:p>
        </p:txBody>
      </p:sp>
      <p:sp>
        <p:nvSpPr>
          <p:cNvPr id="37" name="TextBox 36"/>
          <p:cNvSpPr txBox="1"/>
          <p:nvPr/>
        </p:nvSpPr>
        <p:spPr>
          <a:xfrm>
            <a:off x="4291584" y="4471416"/>
            <a:ext cx="3331464" cy="2020824"/>
          </a:xfrm>
          <a:prstGeom prst="rect">
            <a:avLst/>
          </a:prstGeom>
          <a:noFill/>
        </p:spPr>
        <p:txBody>
          <a:bodyPr wrap="square" lIns="0" tIns="0" rIns="0" bIns="0">
            <a:spAutoFit/>
          </a:bodyPr>
          <a:lstStyle/>
          <a:p>
            <a:pPr>
              <a:lnSpc>
                <a:spcPct val="105000"/>
              </a:lnSpc>
              <a:spcAft>
                <a:spcPts val="500"/>
              </a:spcAft>
            </a:pPr>
            <a:r>
              <a:rPr sz="1050" b="1">
                <a:solidFill>
                  <a:srgbClr val="E8785A"/>
                </a:solidFill>
                <a:latin typeface="Georgia"/>
              </a:rPr>
              <a:t>•  </a:t>
            </a:r>
            <a:r>
              <a:rPr sz="1050">
                <a:solidFill>
                  <a:srgbClr val="2E2A24"/>
                </a:solidFill>
                <a:latin typeface="Georgia"/>
              </a:rPr>
              <a:t>OTP login often loops and fails to complete</a:t>
            </a:r>
          </a:p>
          <a:p>
            <a:pPr>
              <a:lnSpc>
                <a:spcPct val="105000"/>
              </a:lnSpc>
              <a:spcAft>
                <a:spcPts val="500"/>
              </a:spcAft>
            </a:pPr>
            <a:r>
              <a:rPr sz="1050" b="1">
                <a:solidFill>
                  <a:srgbClr val="E8785A"/>
                </a:solidFill>
                <a:latin typeface="Georgia"/>
              </a:rPr>
              <a:t>•  </a:t>
            </a:r>
            <a:r>
              <a:rPr sz="1050">
                <a:solidFill>
                  <a:srgbClr val="2E2A24"/>
                </a:solidFill>
                <a:latin typeface="Georgia"/>
              </a:rPr>
              <a:t>Unsure which listed vet fits a puppy issue</a:t>
            </a:r>
          </a:p>
          <a:p>
            <a:pPr>
              <a:lnSpc>
                <a:spcPct val="105000"/>
              </a:lnSpc>
              <a:spcAft>
                <a:spcPts val="500"/>
              </a:spcAft>
            </a:pPr>
            <a:r>
              <a:rPr sz="1050" b="1">
                <a:solidFill>
                  <a:srgbClr val="E8785A"/>
                </a:solidFill>
                <a:latin typeface="Georgia"/>
              </a:rPr>
              <a:t>•  </a:t>
            </a:r>
            <a:r>
              <a:rPr sz="1050">
                <a:solidFill>
                  <a:srgbClr val="2E2A24"/>
                </a:solidFill>
                <a:latin typeface="Georgia"/>
              </a:rPr>
              <a:t>Product and medical jargon in the catalog</a:t>
            </a:r>
          </a:p>
          <a:p>
            <a:pPr>
              <a:lnSpc>
                <a:spcPct val="105000"/>
              </a:lnSpc>
              <a:spcAft>
                <a:spcPts val="500"/>
              </a:spcAft>
            </a:pPr>
            <a:r>
              <a:rPr sz="1050" b="1">
                <a:solidFill>
                  <a:srgbClr val="E8785A"/>
                </a:solidFill>
                <a:latin typeface="Georgia"/>
              </a:rPr>
              <a:t>•  </a:t>
            </a:r>
            <a:r>
              <a:rPr sz="1050">
                <a:solidFill>
                  <a:srgbClr val="2E2A24"/>
                </a:solidFill>
                <a:latin typeface="Georgia"/>
              </a:rPr>
              <a:t>Anxious waiting on delayed order status updates</a:t>
            </a:r>
          </a:p>
        </p:txBody>
      </p:sp>
      <p:cxnSp>
        <p:nvCxnSpPr>
          <p:cNvPr id="38" name="Connector 37"/>
          <p:cNvCxnSpPr/>
          <p:nvPr/>
        </p:nvCxnSpPr>
        <p:spPr>
          <a:xfrm>
            <a:off x="0" y="4014216"/>
            <a:ext cx="0" cy="2478024"/>
          </a:xfrm>
          <a:prstGeom prst="line">
            <a:avLst/>
          </a:prstGeom>
          <a:ln w="12700">
            <a:solidFill>
              <a:srgbClr val="D8CFB8"/>
            </a:solidFill>
            <a:prstDash val="dash"/>
          </a:ln>
        </p:spPr>
        <p:style>
          <a:lnRef idx="2">
            <a:schemeClr val="accent1"/>
          </a:lnRef>
          <a:fillRef idx="0">
            <a:schemeClr val="accent1"/>
          </a:fillRef>
          <a:effectRef idx="1">
            <a:schemeClr val="accent1"/>
          </a:effectRef>
          <a:fontRef idx="minor">
            <a:schemeClr val="tx1"/>
          </a:fontRef>
        </p:style>
      </p:cxnSp>
      <p:sp>
        <p:nvSpPr>
          <p:cNvPr id="39" name="Oval 38"/>
          <p:cNvSpPr/>
          <p:nvPr/>
        </p:nvSpPr>
        <p:spPr>
          <a:xfrm>
            <a:off x="7906512" y="3995928"/>
            <a:ext cx="310896" cy="310896"/>
          </a:xfrm>
          <a:prstGeom prst="ellipse">
            <a:avLst/>
          </a:prstGeom>
          <a:solidFill>
            <a:srgbClr val="2F7A6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a:t>📖</a:t>
            </a:r>
          </a:p>
        </p:txBody>
      </p:sp>
      <p:sp>
        <p:nvSpPr>
          <p:cNvPr id="40" name="TextBox 39"/>
          <p:cNvSpPr txBox="1"/>
          <p:nvPr/>
        </p:nvSpPr>
        <p:spPr>
          <a:xfrm>
            <a:off x="8281416" y="4032504"/>
            <a:ext cx="3057144" cy="292608"/>
          </a:xfrm>
          <a:prstGeom prst="rect">
            <a:avLst/>
          </a:prstGeom>
          <a:noFill/>
        </p:spPr>
        <p:txBody>
          <a:bodyPr wrap="square" lIns="0" tIns="0" rIns="0" bIns="0" anchor="t">
            <a:spAutoFit/>
          </a:bodyPr>
          <a:lstStyle/>
          <a:p>
            <a:pPr algn="l"/>
            <a:r>
              <a:rPr sz="1450" b="1" i="0">
                <a:solidFill>
                  <a:srgbClr val="1F5C52"/>
                </a:solidFill>
                <a:latin typeface="Century Gothic"/>
              </a:rPr>
              <a:t>Story</a:t>
            </a:r>
          </a:p>
        </p:txBody>
      </p:sp>
      <p:sp>
        <p:nvSpPr>
          <p:cNvPr id="41" name="TextBox 40"/>
          <p:cNvSpPr txBox="1"/>
          <p:nvPr/>
        </p:nvSpPr>
        <p:spPr>
          <a:xfrm>
            <a:off x="7897368" y="4471416"/>
            <a:ext cx="3331464" cy="2020824"/>
          </a:xfrm>
          <a:prstGeom prst="rect">
            <a:avLst/>
          </a:prstGeom>
          <a:noFill/>
        </p:spPr>
        <p:txBody>
          <a:bodyPr wrap="square" lIns="0" tIns="0" rIns="0" bIns="0" anchor="t">
            <a:spAutoFit/>
          </a:bodyPr>
          <a:lstStyle/>
          <a:p>
            <a:pPr algn="l">
              <a:lnSpc>
                <a:spcPct val="118000"/>
              </a:lnSpc>
            </a:pPr>
            <a:r>
              <a:rPr sz="1050" b="0" i="0">
                <a:solidFill>
                  <a:srgbClr val="2E2A24"/>
                </a:solidFill>
                <a:latin typeface="Georgia"/>
              </a:rPr>
              <a:t>Ritika downloaded Supertails after adopting her first puppy, drawn in by the promise of a vet chat within minutes. Getting logged in took several attempts due to a buggy OTP loop, but once in, the vet chat genuinely reassured her — though a delivery has since run late with no clear explanation.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4211E"/>
        </a:solidFill>
        <a:effectLst/>
      </p:bgPr>
    </p:bg>
    <p:spTree>
      <p:nvGrpSpPr>
        <p:cNvPr id="1" name=""/>
        <p:cNvGrpSpPr/>
        <p:nvPr/>
      </p:nvGrpSpPr>
      <p:grpSpPr>
        <a:xfrm>
          <a:off x="0" y="0"/>
          <a:ext cx="0" cy="0"/>
          <a:chOff x="0" y="0"/>
          <a:chExt cx="0" cy="0"/>
        </a:xfrm>
      </p:grpSpPr>
      <p:sp>
        <p:nvSpPr>
          <p:cNvPr id="2" name="TextBox 1"/>
          <p:cNvSpPr txBox="1"/>
          <p:nvPr/>
        </p:nvSpPr>
        <p:spPr>
          <a:xfrm>
            <a:off x="502920" y="256032"/>
            <a:ext cx="7315200" cy="320040"/>
          </a:xfrm>
          <a:prstGeom prst="rect">
            <a:avLst/>
          </a:prstGeom>
          <a:noFill/>
        </p:spPr>
        <p:txBody>
          <a:bodyPr wrap="square" lIns="0" tIns="0" rIns="0" bIns="0" anchor="t">
            <a:spAutoFit/>
          </a:bodyPr>
          <a:lstStyle/>
          <a:p>
            <a:pPr algn="l"/>
            <a:r>
              <a:rPr sz="1100" b="0" i="0" spc="150">
                <a:solidFill>
                  <a:srgbClr val="D9A441"/>
                </a:solidFill>
                <a:latin typeface="Consolas"/>
              </a:rPr>
              <a:t>PET CARE PERSONA · RECORD 02</a:t>
            </a:r>
          </a:p>
        </p:txBody>
      </p:sp>
      <p:sp>
        <p:nvSpPr>
          <p:cNvPr id="3" name="Rounded Rectangle 2"/>
          <p:cNvSpPr/>
          <p:nvPr/>
        </p:nvSpPr>
        <p:spPr>
          <a:xfrm>
            <a:off x="502920" y="685800"/>
            <a:ext cx="11183112" cy="5989320"/>
          </a:xfrm>
          <a:prstGeom prst="roundRect">
            <a:avLst>
              <a:gd name="adj" fmla="val 3000"/>
            </a:avLst>
          </a:prstGeom>
          <a:solidFill>
            <a:srgbClr val="FB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02920" y="685800"/>
            <a:ext cx="11183112" cy="960120"/>
          </a:xfrm>
          <a:prstGeom prst="rect">
            <a:avLst/>
          </a:prstGeom>
          <a:solidFill>
            <a:srgbClr val="1F5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13816" y="882396"/>
            <a:ext cx="566928" cy="566928"/>
          </a:xfrm>
          <a:prstGeom prst="ellipse">
            <a:avLst/>
          </a:prstGeom>
          <a:solidFill>
            <a:srgbClr val="FBF7E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a:t>🐾</a:t>
            </a:r>
          </a:p>
        </p:txBody>
      </p:sp>
      <p:sp>
        <p:nvSpPr>
          <p:cNvPr id="6" name="TextBox 5"/>
          <p:cNvSpPr txBox="1"/>
          <p:nvPr/>
        </p:nvSpPr>
        <p:spPr>
          <a:xfrm>
            <a:off x="1463040" y="795528"/>
            <a:ext cx="5486400" cy="457200"/>
          </a:xfrm>
          <a:prstGeom prst="rect">
            <a:avLst/>
          </a:prstGeom>
          <a:noFill/>
        </p:spPr>
        <p:txBody>
          <a:bodyPr wrap="square" lIns="0" tIns="0" rIns="0" bIns="0" anchor="t">
            <a:spAutoFit/>
          </a:bodyPr>
          <a:lstStyle/>
          <a:p>
            <a:pPr algn="l"/>
            <a:r>
              <a:rPr sz="2400" b="1" i="0">
                <a:solidFill>
                  <a:srgbClr val="FBF7EF"/>
                </a:solidFill>
                <a:latin typeface="Century Gothic"/>
              </a:rPr>
              <a:t>Arjun Mehta</a:t>
            </a:r>
          </a:p>
        </p:txBody>
      </p:sp>
      <p:sp>
        <p:nvSpPr>
          <p:cNvPr id="7" name="TextBox 6"/>
          <p:cNvSpPr txBox="1"/>
          <p:nvPr/>
        </p:nvSpPr>
        <p:spPr>
          <a:xfrm>
            <a:off x="1463040" y="1252728"/>
            <a:ext cx="6400800" cy="320040"/>
          </a:xfrm>
          <a:prstGeom prst="rect">
            <a:avLst/>
          </a:prstGeom>
          <a:noFill/>
        </p:spPr>
        <p:txBody>
          <a:bodyPr wrap="square" lIns="0" tIns="0" rIns="0" bIns="0" anchor="t">
            <a:spAutoFit/>
          </a:bodyPr>
          <a:lstStyle/>
          <a:p>
            <a:pPr algn="l"/>
            <a:r>
              <a:rPr sz="1100" b="0" i="0" spc="100">
                <a:solidFill>
                  <a:srgbClr val="CFE4DF"/>
                </a:solidFill>
                <a:latin typeface="Consolas"/>
              </a:rPr>
              <a:t>IT MANAGER · BENGALURU</a:t>
            </a:r>
          </a:p>
        </p:txBody>
      </p:sp>
      <p:sp>
        <p:nvSpPr>
          <p:cNvPr id="8" name="TextBox 7"/>
          <p:cNvSpPr txBox="1"/>
          <p:nvPr/>
        </p:nvSpPr>
        <p:spPr>
          <a:xfrm>
            <a:off x="8851392" y="850392"/>
            <a:ext cx="2468880" cy="320040"/>
          </a:xfrm>
          <a:prstGeom prst="rect">
            <a:avLst/>
          </a:prstGeom>
          <a:noFill/>
        </p:spPr>
        <p:txBody>
          <a:bodyPr wrap="square" lIns="0" tIns="0" rIns="0" bIns="0" anchor="t">
            <a:spAutoFit/>
          </a:bodyPr>
          <a:lstStyle/>
          <a:p>
            <a:pPr algn="r"/>
            <a:r>
              <a:rPr sz="1050" b="0" i="0">
                <a:solidFill>
                  <a:srgbClr val="D9A441"/>
                </a:solidFill>
                <a:latin typeface="Consolas"/>
              </a:rPr>
              <a:t>RECORD NO. PC-02002</a:t>
            </a:r>
          </a:p>
        </p:txBody>
      </p:sp>
      <p:sp>
        <p:nvSpPr>
          <p:cNvPr id="9" name="TextBox 8"/>
          <p:cNvSpPr txBox="1"/>
          <p:nvPr/>
        </p:nvSpPr>
        <p:spPr>
          <a:xfrm>
            <a:off x="8851392" y="1216152"/>
            <a:ext cx="2468880" cy="320040"/>
          </a:xfrm>
          <a:prstGeom prst="rect">
            <a:avLst/>
          </a:prstGeom>
          <a:noFill/>
        </p:spPr>
        <p:txBody>
          <a:bodyPr wrap="square" lIns="0" tIns="0" rIns="0" bIns="0" anchor="t">
            <a:spAutoFit/>
          </a:bodyPr>
          <a:lstStyle/>
          <a:p>
            <a:pPr algn="r"/>
            <a:r>
              <a:rPr sz="1050" b="1" i="0">
                <a:solidFill>
                  <a:srgbClr val="FBF7EF"/>
                </a:solidFill>
                <a:latin typeface="Consolas"/>
              </a:rPr>
              <a:t>STATUS: ACTIVE PROFILE</a:t>
            </a:r>
          </a:p>
        </p:txBody>
      </p:sp>
      <p:cxnSp>
        <p:nvCxnSpPr>
          <p:cNvPr id="10" name="Connector 9"/>
          <p:cNvCxnSpPr/>
          <p:nvPr/>
        </p:nvCxnSpPr>
        <p:spPr>
          <a:xfrm>
            <a:off x="640080" y="1664208"/>
            <a:ext cx="10908792" cy="0"/>
          </a:xfrm>
          <a:prstGeom prst="line">
            <a:avLst/>
          </a:prstGeom>
          <a:ln w="15875">
            <a:solidFill>
              <a:srgbClr val="B9AE93"/>
            </a:solidFill>
            <a:prstDash val="dash"/>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005840" y="1792224"/>
            <a:ext cx="457200" cy="548640"/>
          </a:xfrm>
          <a:prstGeom prst="rect">
            <a:avLst/>
          </a:prstGeom>
          <a:noFill/>
        </p:spPr>
        <p:txBody>
          <a:bodyPr wrap="square" lIns="0" tIns="0" rIns="0" bIns="0" anchor="t">
            <a:spAutoFit/>
          </a:bodyPr>
          <a:lstStyle/>
          <a:p>
            <a:pPr algn="l"/>
            <a:r>
              <a:rPr sz="3400" b="1" i="0">
                <a:solidFill>
                  <a:srgbClr val="E8785A"/>
                </a:solidFill>
                <a:latin typeface="Georgia"/>
              </a:rPr>
              <a:t>“</a:t>
            </a:r>
          </a:p>
        </p:txBody>
      </p:sp>
      <p:sp>
        <p:nvSpPr>
          <p:cNvPr id="12" name="TextBox 11"/>
          <p:cNvSpPr txBox="1"/>
          <p:nvPr/>
        </p:nvSpPr>
        <p:spPr>
          <a:xfrm>
            <a:off x="1463040" y="1837944"/>
            <a:ext cx="9720072" cy="594360"/>
          </a:xfrm>
          <a:prstGeom prst="rect">
            <a:avLst/>
          </a:prstGeom>
          <a:noFill/>
        </p:spPr>
        <p:txBody>
          <a:bodyPr wrap="square" lIns="0" tIns="0" rIns="0" bIns="0" anchor="t">
            <a:spAutoFit/>
          </a:bodyPr>
          <a:lstStyle/>
          <a:p>
            <a:pPr algn="l">
              <a:lnSpc>
                <a:spcPct val="115000"/>
              </a:lnSpc>
            </a:pPr>
            <a:r>
              <a:rPr sz="1350" b="0" i="1">
                <a:solidFill>
                  <a:srgbClr val="2E2A24"/>
                </a:solidFill>
                <a:latin typeface="Georgia"/>
              </a:rPr>
              <a:t>Bengaluru's supposed to have 120-minute delivery, but half my orders sit "processing" for a day before they even move.</a:t>
            </a:r>
          </a:p>
        </p:txBody>
      </p:sp>
      <p:cxnSp>
        <p:nvCxnSpPr>
          <p:cNvPr id="13" name="Connector 12"/>
          <p:cNvCxnSpPr/>
          <p:nvPr/>
        </p:nvCxnSpPr>
        <p:spPr>
          <a:xfrm>
            <a:off x="640080" y="2569464"/>
            <a:ext cx="10908792" cy="0"/>
          </a:xfrm>
          <a:prstGeom prst="line">
            <a:avLst/>
          </a:prstGeom>
          <a:ln w="15875">
            <a:solidFill>
              <a:srgbClr val="B9AE93"/>
            </a:solidFill>
            <a:prstDash val="dash"/>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85800" y="2679192"/>
            <a:ext cx="3468624" cy="201168"/>
          </a:xfrm>
          <a:prstGeom prst="rect">
            <a:avLst/>
          </a:prstGeom>
          <a:noFill/>
        </p:spPr>
        <p:txBody>
          <a:bodyPr wrap="square" lIns="0" tIns="0" rIns="0" bIns="0" anchor="t">
            <a:spAutoFit/>
          </a:bodyPr>
          <a:lstStyle/>
          <a:p>
            <a:pPr algn="l"/>
            <a:r>
              <a:rPr sz="950" b="0" i="0" spc="60">
                <a:solidFill>
                  <a:srgbClr val="8F8368"/>
                </a:solidFill>
                <a:latin typeface="Consolas"/>
              </a:rPr>
              <a:t>AGE</a:t>
            </a:r>
          </a:p>
        </p:txBody>
      </p:sp>
      <p:sp>
        <p:nvSpPr>
          <p:cNvPr id="15" name="TextBox 14"/>
          <p:cNvSpPr txBox="1"/>
          <p:nvPr/>
        </p:nvSpPr>
        <p:spPr>
          <a:xfrm>
            <a:off x="685800" y="2898648"/>
            <a:ext cx="3468624" cy="320040"/>
          </a:xfrm>
          <a:prstGeom prst="rect">
            <a:avLst/>
          </a:prstGeom>
          <a:noFill/>
        </p:spPr>
        <p:txBody>
          <a:bodyPr wrap="square" lIns="0" tIns="0" rIns="0" bIns="0" anchor="t">
            <a:spAutoFit/>
          </a:bodyPr>
          <a:lstStyle/>
          <a:p>
            <a:pPr algn="l"/>
            <a:r>
              <a:rPr sz="1250" b="1" i="0">
                <a:solidFill>
                  <a:srgbClr val="2E2A24"/>
                </a:solidFill>
                <a:latin typeface="Century Gothic"/>
              </a:rPr>
              <a:t>38</a:t>
            </a:r>
          </a:p>
        </p:txBody>
      </p:sp>
      <p:cxnSp>
        <p:nvCxnSpPr>
          <p:cNvPr id="16" name="Connector 15"/>
          <p:cNvCxnSpPr/>
          <p:nvPr/>
        </p:nvCxnSpPr>
        <p:spPr>
          <a:xfrm>
            <a:off x="0" y="2679192"/>
            <a:ext cx="0" cy="493776"/>
          </a:xfrm>
          <a:prstGeom prst="line">
            <a:avLst/>
          </a:prstGeom>
          <a:ln w="9525">
            <a:solidFill>
              <a:srgbClr val="D8CFB8"/>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291584" y="2679192"/>
            <a:ext cx="3468624" cy="201168"/>
          </a:xfrm>
          <a:prstGeom prst="rect">
            <a:avLst/>
          </a:prstGeom>
          <a:noFill/>
        </p:spPr>
        <p:txBody>
          <a:bodyPr wrap="square" lIns="0" tIns="0" rIns="0" bIns="0" anchor="t">
            <a:spAutoFit/>
          </a:bodyPr>
          <a:lstStyle/>
          <a:p>
            <a:pPr algn="l"/>
            <a:r>
              <a:rPr sz="950" b="0" i="0" spc="60">
                <a:solidFill>
                  <a:srgbClr val="8F8368"/>
                </a:solidFill>
                <a:latin typeface="Consolas"/>
              </a:rPr>
              <a:t>OCCUPATION</a:t>
            </a:r>
          </a:p>
        </p:txBody>
      </p:sp>
      <p:sp>
        <p:nvSpPr>
          <p:cNvPr id="18" name="TextBox 17"/>
          <p:cNvSpPr txBox="1"/>
          <p:nvPr/>
        </p:nvSpPr>
        <p:spPr>
          <a:xfrm>
            <a:off x="4291584" y="2898648"/>
            <a:ext cx="3468624" cy="320040"/>
          </a:xfrm>
          <a:prstGeom prst="rect">
            <a:avLst/>
          </a:prstGeom>
          <a:noFill/>
        </p:spPr>
        <p:txBody>
          <a:bodyPr wrap="square" lIns="0" tIns="0" rIns="0" bIns="0" anchor="t">
            <a:spAutoFit/>
          </a:bodyPr>
          <a:lstStyle/>
          <a:p>
            <a:pPr algn="l"/>
            <a:r>
              <a:rPr sz="1250" b="1" i="0">
                <a:solidFill>
                  <a:srgbClr val="2E2A24"/>
                </a:solidFill>
                <a:latin typeface="Century Gothic"/>
              </a:rPr>
              <a:t>IT Manager</a:t>
            </a:r>
          </a:p>
        </p:txBody>
      </p:sp>
      <p:cxnSp>
        <p:nvCxnSpPr>
          <p:cNvPr id="19" name="Connector 18"/>
          <p:cNvCxnSpPr/>
          <p:nvPr/>
        </p:nvCxnSpPr>
        <p:spPr>
          <a:xfrm>
            <a:off x="0" y="2679192"/>
            <a:ext cx="0" cy="493776"/>
          </a:xfrm>
          <a:prstGeom prst="line">
            <a:avLst/>
          </a:prstGeom>
          <a:ln w="9525">
            <a:solidFill>
              <a:srgbClr val="D8CFB8"/>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897368" y="2679192"/>
            <a:ext cx="3468624" cy="201168"/>
          </a:xfrm>
          <a:prstGeom prst="rect">
            <a:avLst/>
          </a:prstGeom>
          <a:noFill/>
        </p:spPr>
        <p:txBody>
          <a:bodyPr wrap="square" lIns="0" tIns="0" rIns="0" bIns="0" anchor="t">
            <a:spAutoFit/>
          </a:bodyPr>
          <a:lstStyle/>
          <a:p>
            <a:pPr algn="l"/>
            <a:r>
              <a:rPr sz="950" b="0" i="0" spc="60">
                <a:solidFill>
                  <a:srgbClr val="8F8368"/>
                </a:solidFill>
                <a:latin typeface="Consolas"/>
              </a:rPr>
              <a:t>LOCATION</a:t>
            </a:r>
          </a:p>
        </p:txBody>
      </p:sp>
      <p:sp>
        <p:nvSpPr>
          <p:cNvPr id="21" name="TextBox 20"/>
          <p:cNvSpPr txBox="1"/>
          <p:nvPr/>
        </p:nvSpPr>
        <p:spPr>
          <a:xfrm>
            <a:off x="7897368" y="2898648"/>
            <a:ext cx="3468624" cy="320040"/>
          </a:xfrm>
          <a:prstGeom prst="rect">
            <a:avLst/>
          </a:prstGeom>
          <a:noFill/>
        </p:spPr>
        <p:txBody>
          <a:bodyPr wrap="square" lIns="0" tIns="0" rIns="0" bIns="0" anchor="t">
            <a:spAutoFit/>
          </a:bodyPr>
          <a:lstStyle/>
          <a:p>
            <a:pPr algn="l"/>
            <a:r>
              <a:rPr sz="1250" b="1" i="0">
                <a:solidFill>
                  <a:srgbClr val="2E2A24"/>
                </a:solidFill>
                <a:latin typeface="Century Gothic"/>
              </a:rPr>
              <a:t>Bengaluru</a:t>
            </a:r>
          </a:p>
        </p:txBody>
      </p:sp>
      <p:sp>
        <p:nvSpPr>
          <p:cNvPr id="22" name="TextBox 21"/>
          <p:cNvSpPr txBox="1"/>
          <p:nvPr/>
        </p:nvSpPr>
        <p:spPr>
          <a:xfrm>
            <a:off x="685800" y="3246120"/>
            <a:ext cx="3468624" cy="201168"/>
          </a:xfrm>
          <a:prstGeom prst="rect">
            <a:avLst/>
          </a:prstGeom>
          <a:noFill/>
        </p:spPr>
        <p:txBody>
          <a:bodyPr wrap="square" lIns="0" tIns="0" rIns="0" bIns="0" anchor="t">
            <a:spAutoFit/>
          </a:bodyPr>
          <a:lstStyle/>
          <a:p>
            <a:pPr algn="l"/>
            <a:r>
              <a:rPr sz="950" b="0" i="0" spc="60">
                <a:solidFill>
                  <a:srgbClr val="8F8368"/>
                </a:solidFill>
                <a:latin typeface="Consolas"/>
              </a:rPr>
              <a:t>TECH COMFORT</a:t>
            </a:r>
          </a:p>
        </p:txBody>
      </p:sp>
      <p:sp>
        <p:nvSpPr>
          <p:cNvPr id="23" name="TextBox 22"/>
          <p:cNvSpPr txBox="1"/>
          <p:nvPr/>
        </p:nvSpPr>
        <p:spPr>
          <a:xfrm>
            <a:off x="685800" y="3465576"/>
            <a:ext cx="3468624" cy="320040"/>
          </a:xfrm>
          <a:prstGeom prst="rect">
            <a:avLst/>
          </a:prstGeom>
          <a:noFill/>
        </p:spPr>
        <p:txBody>
          <a:bodyPr wrap="square" lIns="0" tIns="0" rIns="0" bIns="0" anchor="t">
            <a:spAutoFit/>
          </a:bodyPr>
          <a:lstStyle/>
          <a:p>
            <a:pPr algn="l"/>
            <a:r>
              <a:rPr sz="1250" b="1" i="0">
                <a:solidFill>
                  <a:srgbClr val="2E2A24"/>
                </a:solidFill>
                <a:latin typeface="Century Gothic"/>
              </a:rPr>
              <a:t>Medium — comfortable with apps, low on time</a:t>
            </a:r>
          </a:p>
        </p:txBody>
      </p:sp>
      <p:cxnSp>
        <p:nvCxnSpPr>
          <p:cNvPr id="24" name="Connector 23"/>
          <p:cNvCxnSpPr/>
          <p:nvPr/>
        </p:nvCxnSpPr>
        <p:spPr>
          <a:xfrm>
            <a:off x="0" y="3246120"/>
            <a:ext cx="0" cy="493776"/>
          </a:xfrm>
          <a:prstGeom prst="line">
            <a:avLst/>
          </a:prstGeom>
          <a:ln w="9525">
            <a:solidFill>
              <a:srgbClr val="D8CFB8"/>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4291584" y="3246120"/>
            <a:ext cx="3468624" cy="201168"/>
          </a:xfrm>
          <a:prstGeom prst="rect">
            <a:avLst/>
          </a:prstGeom>
          <a:noFill/>
        </p:spPr>
        <p:txBody>
          <a:bodyPr wrap="square" lIns="0" tIns="0" rIns="0" bIns="0" anchor="t">
            <a:spAutoFit/>
          </a:bodyPr>
          <a:lstStyle/>
          <a:p>
            <a:pPr algn="l"/>
            <a:r>
              <a:rPr sz="950" b="0" i="0" spc="60">
                <a:solidFill>
                  <a:srgbClr val="8F8368"/>
                </a:solidFill>
                <a:latin typeface="Consolas"/>
              </a:rPr>
              <a:t>VET VISITS / YEAR</a:t>
            </a:r>
          </a:p>
        </p:txBody>
      </p:sp>
      <p:sp>
        <p:nvSpPr>
          <p:cNvPr id="26" name="TextBox 25"/>
          <p:cNvSpPr txBox="1"/>
          <p:nvPr/>
        </p:nvSpPr>
        <p:spPr>
          <a:xfrm>
            <a:off x="4291584" y="3465576"/>
            <a:ext cx="3468624" cy="320040"/>
          </a:xfrm>
          <a:prstGeom prst="rect">
            <a:avLst/>
          </a:prstGeom>
          <a:noFill/>
        </p:spPr>
        <p:txBody>
          <a:bodyPr wrap="square" lIns="0" tIns="0" rIns="0" bIns="0" anchor="t">
            <a:spAutoFit/>
          </a:bodyPr>
          <a:lstStyle/>
          <a:p>
            <a:pPr algn="l"/>
            <a:r>
              <a:rPr sz="1250" b="1" i="0">
                <a:solidFill>
                  <a:srgbClr val="2E2A24"/>
                </a:solidFill>
                <a:latin typeface="Century Gothic"/>
              </a:rPr>
              <a:t>Every 2 months across both pets</a:t>
            </a:r>
          </a:p>
        </p:txBody>
      </p:sp>
      <p:cxnSp>
        <p:nvCxnSpPr>
          <p:cNvPr id="27" name="Connector 26"/>
          <p:cNvCxnSpPr/>
          <p:nvPr/>
        </p:nvCxnSpPr>
        <p:spPr>
          <a:xfrm>
            <a:off x="0" y="3246120"/>
            <a:ext cx="0" cy="493776"/>
          </a:xfrm>
          <a:prstGeom prst="line">
            <a:avLst/>
          </a:prstGeom>
          <a:ln w="9525">
            <a:solidFill>
              <a:srgbClr val="D8CFB8"/>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7897368" y="3246120"/>
            <a:ext cx="3468624" cy="201168"/>
          </a:xfrm>
          <a:prstGeom prst="rect">
            <a:avLst/>
          </a:prstGeom>
          <a:noFill/>
        </p:spPr>
        <p:txBody>
          <a:bodyPr wrap="square" lIns="0" tIns="0" rIns="0" bIns="0" anchor="t">
            <a:spAutoFit/>
          </a:bodyPr>
          <a:lstStyle/>
          <a:p>
            <a:pPr algn="l"/>
            <a:r>
              <a:rPr sz="950" b="0" i="0" spc="60">
                <a:solidFill>
                  <a:srgbClr val="8F8368"/>
                </a:solidFill>
                <a:latin typeface="Consolas"/>
              </a:rPr>
              <a:t>PET(S)</a:t>
            </a:r>
          </a:p>
        </p:txBody>
      </p:sp>
      <p:sp>
        <p:nvSpPr>
          <p:cNvPr id="29" name="TextBox 28"/>
          <p:cNvSpPr txBox="1"/>
          <p:nvPr/>
        </p:nvSpPr>
        <p:spPr>
          <a:xfrm>
            <a:off x="7897368" y="3465576"/>
            <a:ext cx="3468624" cy="320040"/>
          </a:xfrm>
          <a:prstGeom prst="rect">
            <a:avLst/>
          </a:prstGeom>
          <a:noFill/>
        </p:spPr>
        <p:txBody>
          <a:bodyPr wrap="square" lIns="0" tIns="0" rIns="0" bIns="0" anchor="t">
            <a:spAutoFit/>
          </a:bodyPr>
          <a:lstStyle/>
          <a:p>
            <a:pPr algn="l"/>
            <a:r>
              <a:rPr sz="1250" b="1" i="0">
                <a:solidFill>
                  <a:srgbClr val="2E2A24"/>
                </a:solidFill>
                <a:latin typeface="Century Gothic"/>
              </a:rPr>
              <a:t>1 Dog + 1 Cat</a:t>
            </a:r>
          </a:p>
        </p:txBody>
      </p:sp>
      <p:cxnSp>
        <p:nvCxnSpPr>
          <p:cNvPr id="30" name="Connector 29"/>
          <p:cNvCxnSpPr/>
          <p:nvPr/>
        </p:nvCxnSpPr>
        <p:spPr>
          <a:xfrm>
            <a:off x="640080" y="3867912"/>
            <a:ext cx="10908792" cy="0"/>
          </a:xfrm>
          <a:prstGeom prst="line">
            <a:avLst/>
          </a:prstGeom>
          <a:ln w="15875">
            <a:solidFill>
              <a:srgbClr val="B9AE93"/>
            </a:solidFill>
            <a:prstDash val="dash"/>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694944" y="3995928"/>
            <a:ext cx="310896" cy="310896"/>
          </a:xfrm>
          <a:prstGeom prst="ellipse">
            <a:avLst/>
          </a:prstGeom>
          <a:solidFill>
            <a:srgbClr val="2F7A6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a:t>🎯</a:t>
            </a:r>
          </a:p>
        </p:txBody>
      </p:sp>
      <p:sp>
        <p:nvSpPr>
          <p:cNvPr id="32" name="TextBox 31"/>
          <p:cNvSpPr txBox="1"/>
          <p:nvPr/>
        </p:nvSpPr>
        <p:spPr>
          <a:xfrm>
            <a:off x="1069848" y="4032504"/>
            <a:ext cx="3057144" cy="292608"/>
          </a:xfrm>
          <a:prstGeom prst="rect">
            <a:avLst/>
          </a:prstGeom>
          <a:noFill/>
        </p:spPr>
        <p:txBody>
          <a:bodyPr wrap="square" lIns="0" tIns="0" rIns="0" bIns="0" anchor="t">
            <a:spAutoFit/>
          </a:bodyPr>
          <a:lstStyle/>
          <a:p>
            <a:pPr algn="l"/>
            <a:r>
              <a:rPr sz="1450" b="1" i="0">
                <a:solidFill>
                  <a:srgbClr val="1F5C52"/>
                </a:solidFill>
                <a:latin typeface="Century Gothic"/>
              </a:rPr>
              <a:t>Goals</a:t>
            </a:r>
          </a:p>
        </p:txBody>
      </p:sp>
      <p:sp>
        <p:nvSpPr>
          <p:cNvPr id="33" name="TextBox 32"/>
          <p:cNvSpPr txBox="1"/>
          <p:nvPr/>
        </p:nvSpPr>
        <p:spPr>
          <a:xfrm>
            <a:off x="685800" y="4471416"/>
            <a:ext cx="3331464" cy="2020824"/>
          </a:xfrm>
          <a:prstGeom prst="rect">
            <a:avLst/>
          </a:prstGeom>
          <a:noFill/>
        </p:spPr>
        <p:txBody>
          <a:bodyPr wrap="square" lIns="0" tIns="0" rIns="0" bIns="0">
            <a:spAutoFit/>
          </a:bodyPr>
          <a:lstStyle/>
          <a:p>
            <a:pPr>
              <a:lnSpc>
                <a:spcPct val="105000"/>
              </a:lnSpc>
              <a:spcAft>
                <a:spcPts val="500"/>
              </a:spcAft>
            </a:pPr>
            <a:r>
              <a:rPr sz="1050" b="1">
                <a:solidFill>
                  <a:srgbClr val="E8785A"/>
                </a:solidFill>
                <a:latin typeface="Georgia"/>
              </a:rPr>
              <a:t>•  </a:t>
            </a:r>
            <a:r>
              <a:rPr sz="1050">
                <a:solidFill>
                  <a:srgbClr val="2E2A24"/>
                </a:solidFill>
                <a:latin typeface="Georgia"/>
              </a:rPr>
              <a:t>Manage two pets' orders without mixing them up</a:t>
            </a:r>
          </a:p>
          <a:p>
            <a:pPr>
              <a:lnSpc>
                <a:spcPct val="105000"/>
              </a:lnSpc>
              <a:spcAft>
                <a:spcPts val="500"/>
              </a:spcAft>
            </a:pPr>
            <a:r>
              <a:rPr sz="1050" b="1">
                <a:solidFill>
                  <a:srgbClr val="E8785A"/>
                </a:solidFill>
                <a:latin typeface="Georgia"/>
              </a:rPr>
              <a:t>•  </a:t>
            </a:r>
            <a:r>
              <a:rPr sz="1050">
                <a:solidFill>
                  <a:srgbClr val="2E2A24"/>
                </a:solidFill>
                <a:latin typeface="Georgia"/>
              </a:rPr>
              <a:t>Get the same-day delivery the app promises</a:t>
            </a:r>
          </a:p>
          <a:p>
            <a:pPr>
              <a:lnSpc>
                <a:spcPct val="105000"/>
              </a:lnSpc>
              <a:spcAft>
                <a:spcPts val="500"/>
              </a:spcAft>
            </a:pPr>
            <a:r>
              <a:rPr sz="1050" b="1">
                <a:solidFill>
                  <a:srgbClr val="E8785A"/>
                </a:solidFill>
                <a:latin typeface="Georgia"/>
              </a:rPr>
              <a:t>•  </a:t>
            </a:r>
            <a:r>
              <a:rPr sz="1050">
                <a:solidFill>
                  <a:srgbClr val="2E2A24"/>
                </a:solidFill>
                <a:latin typeface="Georgia"/>
              </a:rPr>
              <a:t>Book a home vet visit for a routine checkup</a:t>
            </a:r>
          </a:p>
          <a:p>
            <a:pPr>
              <a:lnSpc>
                <a:spcPct val="105000"/>
              </a:lnSpc>
              <a:spcAft>
                <a:spcPts val="500"/>
              </a:spcAft>
            </a:pPr>
            <a:r>
              <a:rPr sz="1050" b="1">
                <a:solidFill>
                  <a:srgbClr val="E8785A"/>
                </a:solidFill>
                <a:latin typeface="Georgia"/>
              </a:rPr>
              <a:t>•  </a:t>
            </a:r>
            <a:r>
              <a:rPr sz="1050">
                <a:solidFill>
                  <a:srgbClr val="2E2A24"/>
                </a:solidFill>
                <a:latin typeface="Georgia"/>
              </a:rPr>
              <a:t>Track both pets' prescriptions in one place</a:t>
            </a:r>
          </a:p>
        </p:txBody>
      </p:sp>
      <p:cxnSp>
        <p:nvCxnSpPr>
          <p:cNvPr id="34" name="Connector 33"/>
          <p:cNvCxnSpPr/>
          <p:nvPr/>
        </p:nvCxnSpPr>
        <p:spPr>
          <a:xfrm>
            <a:off x="0" y="4014216"/>
            <a:ext cx="0" cy="2478024"/>
          </a:xfrm>
          <a:prstGeom prst="line">
            <a:avLst/>
          </a:prstGeom>
          <a:ln w="12700">
            <a:solidFill>
              <a:srgbClr val="D8CFB8"/>
            </a:solidFill>
            <a:prstDash val="dash"/>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4300728" y="3995928"/>
            <a:ext cx="310896" cy="310896"/>
          </a:xfrm>
          <a:prstGeom prst="ellipse">
            <a:avLst/>
          </a:prstGeom>
          <a:solidFill>
            <a:srgbClr val="2F7A6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a:t>⚠</a:t>
            </a:r>
          </a:p>
        </p:txBody>
      </p:sp>
      <p:sp>
        <p:nvSpPr>
          <p:cNvPr id="36" name="TextBox 35"/>
          <p:cNvSpPr txBox="1"/>
          <p:nvPr/>
        </p:nvSpPr>
        <p:spPr>
          <a:xfrm>
            <a:off x="4675632" y="4032504"/>
            <a:ext cx="3057144" cy="292608"/>
          </a:xfrm>
          <a:prstGeom prst="rect">
            <a:avLst/>
          </a:prstGeom>
          <a:noFill/>
        </p:spPr>
        <p:txBody>
          <a:bodyPr wrap="square" lIns="0" tIns="0" rIns="0" bIns="0" anchor="t">
            <a:spAutoFit/>
          </a:bodyPr>
          <a:lstStyle/>
          <a:p>
            <a:pPr algn="l"/>
            <a:r>
              <a:rPr sz="1450" b="1" i="0">
                <a:solidFill>
                  <a:srgbClr val="1F5C52"/>
                </a:solidFill>
                <a:latin typeface="Century Gothic"/>
              </a:rPr>
              <a:t>Frustrations</a:t>
            </a:r>
          </a:p>
        </p:txBody>
      </p:sp>
      <p:sp>
        <p:nvSpPr>
          <p:cNvPr id="37" name="TextBox 36"/>
          <p:cNvSpPr txBox="1"/>
          <p:nvPr/>
        </p:nvSpPr>
        <p:spPr>
          <a:xfrm>
            <a:off x="4291584" y="4471416"/>
            <a:ext cx="3331464" cy="2020824"/>
          </a:xfrm>
          <a:prstGeom prst="rect">
            <a:avLst/>
          </a:prstGeom>
          <a:noFill/>
        </p:spPr>
        <p:txBody>
          <a:bodyPr wrap="square" lIns="0" tIns="0" rIns="0" bIns="0">
            <a:spAutoFit/>
          </a:bodyPr>
          <a:lstStyle/>
          <a:p>
            <a:pPr>
              <a:lnSpc>
                <a:spcPct val="105000"/>
              </a:lnSpc>
              <a:spcAft>
                <a:spcPts val="500"/>
              </a:spcAft>
            </a:pPr>
            <a:r>
              <a:rPr sz="1050" b="1">
                <a:solidFill>
                  <a:srgbClr val="E8785A"/>
                </a:solidFill>
                <a:latin typeface="Georgia"/>
              </a:rPr>
              <a:t>•  </a:t>
            </a:r>
            <a:r>
              <a:rPr sz="1050">
                <a:solidFill>
                  <a:srgbClr val="2E2A24"/>
                </a:solidFill>
                <a:latin typeface="Georgia"/>
              </a:rPr>
              <a:t>Same-day delivery promise doesn't always hold</a:t>
            </a:r>
          </a:p>
          <a:p>
            <a:pPr>
              <a:lnSpc>
                <a:spcPct val="105000"/>
              </a:lnSpc>
              <a:spcAft>
                <a:spcPts val="500"/>
              </a:spcAft>
            </a:pPr>
            <a:r>
              <a:rPr sz="1050" b="1">
                <a:solidFill>
                  <a:srgbClr val="E8785A"/>
                </a:solidFill>
                <a:latin typeface="Georgia"/>
              </a:rPr>
              <a:t>•  </a:t>
            </a:r>
            <a:r>
              <a:rPr sz="1050">
                <a:solidFill>
                  <a:srgbClr val="2E2A24"/>
                </a:solidFill>
                <a:latin typeface="Georgia"/>
              </a:rPr>
              <a:t>No single view to track two pets' orders separately</a:t>
            </a:r>
          </a:p>
          <a:p>
            <a:pPr>
              <a:lnSpc>
                <a:spcPct val="105000"/>
              </a:lnSpc>
              <a:spcAft>
                <a:spcPts val="500"/>
              </a:spcAft>
            </a:pPr>
            <a:r>
              <a:rPr sz="1050" b="1">
                <a:solidFill>
                  <a:srgbClr val="E8785A"/>
                </a:solidFill>
                <a:latin typeface="Georgia"/>
              </a:rPr>
              <a:t>•  </a:t>
            </a:r>
            <a:r>
              <a:rPr sz="1050">
                <a:solidFill>
                  <a:srgbClr val="2E2A24"/>
                </a:solidFill>
                <a:latin typeface="Georgia"/>
              </a:rPr>
              <a:t>Prescription approval before ordering adds unexplained delays</a:t>
            </a:r>
          </a:p>
          <a:p>
            <a:pPr>
              <a:lnSpc>
                <a:spcPct val="105000"/>
              </a:lnSpc>
              <a:spcAft>
                <a:spcPts val="500"/>
              </a:spcAft>
            </a:pPr>
            <a:r>
              <a:rPr sz="1050" b="1">
                <a:solidFill>
                  <a:srgbClr val="E8785A"/>
                </a:solidFill>
                <a:latin typeface="Georgia"/>
              </a:rPr>
              <a:t>•  </a:t>
            </a:r>
            <a:r>
              <a:rPr sz="1050">
                <a:solidFill>
                  <a:srgbClr val="2E2A24"/>
                </a:solidFill>
                <a:latin typeface="Georgia"/>
              </a:rPr>
              <a:t>Support is slow to clarify a delayed order</a:t>
            </a:r>
          </a:p>
        </p:txBody>
      </p:sp>
      <p:cxnSp>
        <p:nvCxnSpPr>
          <p:cNvPr id="38" name="Connector 37"/>
          <p:cNvCxnSpPr/>
          <p:nvPr/>
        </p:nvCxnSpPr>
        <p:spPr>
          <a:xfrm>
            <a:off x="0" y="4014216"/>
            <a:ext cx="0" cy="2478024"/>
          </a:xfrm>
          <a:prstGeom prst="line">
            <a:avLst/>
          </a:prstGeom>
          <a:ln w="12700">
            <a:solidFill>
              <a:srgbClr val="D8CFB8"/>
            </a:solidFill>
            <a:prstDash val="dash"/>
          </a:ln>
        </p:spPr>
        <p:style>
          <a:lnRef idx="2">
            <a:schemeClr val="accent1"/>
          </a:lnRef>
          <a:fillRef idx="0">
            <a:schemeClr val="accent1"/>
          </a:fillRef>
          <a:effectRef idx="1">
            <a:schemeClr val="accent1"/>
          </a:effectRef>
          <a:fontRef idx="minor">
            <a:schemeClr val="tx1"/>
          </a:fontRef>
        </p:style>
      </p:cxnSp>
      <p:sp>
        <p:nvSpPr>
          <p:cNvPr id="39" name="Oval 38"/>
          <p:cNvSpPr/>
          <p:nvPr/>
        </p:nvSpPr>
        <p:spPr>
          <a:xfrm>
            <a:off x="7906512" y="3995928"/>
            <a:ext cx="310896" cy="310896"/>
          </a:xfrm>
          <a:prstGeom prst="ellipse">
            <a:avLst/>
          </a:prstGeom>
          <a:solidFill>
            <a:srgbClr val="2F7A6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a:t>📖</a:t>
            </a:r>
          </a:p>
        </p:txBody>
      </p:sp>
      <p:sp>
        <p:nvSpPr>
          <p:cNvPr id="40" name="TextBox 39"/>
          <p:cNvSpPr txBox="1"/>
          <p:nvPr/>
        </p:nvSpPr>
        <p:spPr>
          <a:xfrm>
            <a:off x="8281416" y="4032504"/>
            <a:ext cx="3057144" cy="292608"/>
          </a:xfrm>
          <a:prstGeom prst="rect">
            <a:avLst/>
          </a:prstGeom>
          <a:noFill/>
        </p:spPr>
        <p:txBody>
          <a:bodyPr wrap="square" lIns="0" tIns="0" rIns="0" bIns="0" anchor="t">
            <a:spAutoFit/>
          </a:bodyPr>
          <a:lstStyle/>
          <a:p>
            <a:pPr algn="l"/>
            <a:r>
              <a:rPr sz="1450" b="1" i="0">
                <a:solidFill>
                  <a:srgbClr val="1F5C52"/>
                </a:solidFill>
                <a:latin typeface="Century Gothic"/>
              </a:rPr>
              <a:t>Story</a:t>
            </a:r>
          </a:p>
        </p:txBody>
      </p:sp>
      <p:sp>
        <p:nvSpPr>
          <p:cNvPr id="41" name="TextBox 40"/>
          <p:cNvSpPr txBox="1"/>
          <p:nvPr/>
        </p:nvSpPr>
        <p:spPr>
          <a:xfrm>
            <a:off x="7897368" y="4471416"/>
            <a:ext cx="3331464" cy="2020824"/>
          </a:xfrm>
          <a:prstGeom prst="rect">
            <a:avLst/>
          </a:prstGeom>
          <a:noFill/>
        </p:spPr>
        <p:txBody>
          <a:bodyPr wrap="square" lIns="0" tIns="0" rIns="0" bIns="0" anchor="t">
            <a:spAutoFit/>
          </a:bodyPr>
          <a:lstStyle/>
          <a:p>
            <a:pPr algn="l">
              <a:lnSpc>
                <a:spcPct val="118000"/>
              </a:lnSpc>
            </a:pPr>
            <a:r>
              <a:rPr sz="1050" b="0" i="0">
                <a:solidFill>
                  <a:srgbClr val="2E2A24"/>
                </a:solidFill>
                <a:latin typeface="Georgia"/>
              </a:rPr>
              <a:t>Arjun relies on Supertails for fast delivery given Bengaluru's 120-minute promise, but medicine orders needing vet-side prescription approval sometimes stall for a day with no visibility into why, and he has to juggle both pets' care from the same cluttered order history.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4211E"/>
        </a:solidFill>
        <a:effectLst/>
      </p:bgPr>
    </p:bg>
    <p:spTree>
      <p:nvGrpSpPr>
        <p:cNvPr id="1" name=""/>
        <p:cNvGrpSpPr/>
        <p:nvPr/>
      </p:nvGrpSpPr>
      <p:grpSpPr>
        <a:xfrm>
          <a:off x="0" y="0"/>
          <a:ext cx="0" cy="0"/>
          <a:chOff x="0" y="0"/>
          <a:chExt cx="0" cy="0"/>
        </a:xfrm>
      </p:grpSpPr>
      <p:sp>
        <p:nvSpPr>
          <p:cNvPr id="2" name="TextBox 1"/>
          <p:cNvSpPr txBox="1"/>
          <p:nvPr/>
        </p:nvSpPr>
        <p:spPr>
          <a:xfrm>
            <a:off x="502920" y="256032"/>
            <a:ext cx="7315200" cy="320040"/>
          </a:xfrm>
          <a:prstGeom prst="rect">
            <a:avLst/>
          </a:prstGeom>
          <a:noFill/>
        </p:spPr>
        <p:txBody>
          <a:bodyPr wrap="square" lIns="0" tIns="0" rIns="0" bIns="0" anchor="t">
            <a:spAutoFit/>
          </a:bodyPr>
          <a:lstStyle/>
          <a:p>
            <a:pPr algn="l"/>
            <a:r>
              <a:rPr sz="1100" b="0" i="0" spc="150">
                <a:solidFill>
                  <a:srgbClr val="D9A441"/>
                </a:solidFill>
                <a:latin typeface="Consolas"/>
              </a:rPr>
              <a:t>PET CARE PERSONA · RECORD 03</a:t>
            </a:r>
          </a:p>
        </p:txBody>
      </p:sp>
      <p:sp>
        <p:nvSpPr>
          <p:cNvPr id="3" name="Rounded Rectangle 2"/>
          <p:cNvSpPr/>
          <p:nvPr/>
        </p:nvSpPr>
        <p:spPr>
          <a:xfrm>
            <a:off x="502920" y="685800"/>
            <a:ext cx="11183112" cy="5989320"/>
          </a:xfrm>
          <a:prstGeom prst="roundRect">
            <a:avLst>
              <a:gd name="adj" fmla="val 3000"/>
            </a:avLst>
          </a:prstGeom>
          <a:solidFill>
            <a:srgbClr val="FB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02920" y="685800"/>
            <a:ext cx="11183112" cy="960120"/>
          </a:xfrm>
          <a:prstGeom prst="rect">
            <a:avLst/>
          </a:prstGeom>
          <a:solidFill>
            <a:srgbClr val="1F5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13816" y="882396"/>
            <a:ext cx="566928" cy="566928"/>
          </a:xfrm>
          <a:prstGeom prst="ellipse">
            <a:avLst/>
          </a:prstGeom>
          <a:solidFill>
            <a:srgbClr val="FBF7E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a:t>🐕</a:t>
            </a:r>
          </a:p>
        </p:txBody>
      </p:sp>
      <p:sp>
        <p:nvSpPr>
          <p:cNvPr id="6" name="TextBox 5"/>
          <p:cNvSpPr txBox="1"/>
          <p:nvPr/>
        </p:nvSpPr>
        <p:spPr>
          <a:xfrm>
            <a:off x="1463040" y="795528"/>
            <a:ext cx="5486400" cy="457200"/>
          </a:xfrm>
          <a:prstGeom prst="rect">
            <a:avLst/>
          </a:prstGeom>
          <a:noFill/>
        </p:spPr>
        <p:txBody>
          <a:bodyPr wrap="square" lIns="0" tIns="0" rIns="0" bIns="0" anchor="t">
            <a:spAutoFit/>
          </a:bodyPr>
          <a:lstStyle/>
          <a:p>
            <a:pPr algn="l"/>
            <a:r>
              <a:rPr sz="2400" b="1" i="0">
                <a:solidFill>
                  <a:srgbClr val="FBF7EF"/>
                </a:solidFill>
                <a:latin typeface="Century Gothic"/>
              </a:rPr>
              <a:t>Kavita Nair</a:t>
            </a:r>
          </a:p>
        </p:txBody>
      </p:sp>
      <p:sp>
        <p:nvSpPr>
          <p:cNvPr id="7" name="TextBox 6"/>
          <p:cNvSpPr txBox="1"/>
          <p:nvPr/>
        </p:nvSpPr>
        <p:spPr>
          <a:xfrm>
            <a:off x="1463040" y="1252728"/>
            <a:ext cx="6400800" cy="320040"/>
          </a:xfrm>
          <a:prstGeom prst="rect">
            <a:avLst/>
          </a:prstGeom>
          <a:noFill/>
        </p:spPr>
        <p:txBody>
          <a:bodyPr wrap="square" lIns="0" tIns="0" rIns="0" bIns="0" anchor="t">
            <a:spAutoFit/>
          </a:bodyPr>
          <a:lstStyle/>
          <a:p>
            <a:pPr algn="l"/>
            <a:r>
              <a:rPr sz="1100" b="0" i="0" spc="100">
                <a:solidFill>
                  <a:srgbClr val="CFE4DF"/>
                </a:solidFill>
                <a:latin typeface="Consolas"/>
              </a:rPr>
              <a:t>RETIRED TEACHER · KOCHI</a:t>
            </a:r>
          </a:p>
        </p:txBody>
      </p:sp>
      <p:sp>
        <p:nvSpPr>
          <p:cNvPr id="8" name="TextBox 7"/>
          <p:cNvSpPr txBox="1"/>
          <p:nvPr/>
        </p:nvSpPr>
        <p:spPr>
          <a:xfrm>
            <a:off x="8851392" y="850392"/>
            <a:ext cx="2468880" cy="320040"/>
          </a:xfrm>
          <a:prstGeom prst="rect">
            <a:avLst/>
          </a:prstGeom>
          <a:noFill/>
        </p:spPr>
        <p:txBody>
          <a:bodyPr wrap="square" lIns="0" tIns="0" rIns="0" bIns="0" anchor="t">
            <a:spAutoFit/>
          </a:bodyPr>
          <a:lstStyle/>
          <a:p>
            <a:pPr algn="r"/>
            <a:r>
              <a:rPr sz="1050" b="0" i="0">
                <a:solidFill>
                  <a:srgbClr val="D9A441"/>
                </a:solidFill>
                <a:latin typeface="Consolas"/>
              </a:rPr>
              <a:t>RECORD NO. PC-03003</a:t>
            </a:r>
          </a:p>
        </p:txBody>
      </p:sp>
      <p:sp>
        <p:nvSpPr>
          <p:cNvPr id="9" name="TextBox 8"/>
          <p:cNvSpPr txBox="1"/>
          <p:nvPr/>
        </p:nvSpPr>
        <p:spPr>
          <a:xfrm>
            <a:off x="8851392" y="1216152"/>
            <a:ext cx="2468880" cy="320040"/>
          </a:xfrm>
          <a:prstGeom prst="rect">
            <a:avLst/>
          </a:prstGeom>
          <a:noFill/>
        </p:spPr>
        <p:txBody>
          <a:bodyPr wrap="square" lIns="0" tIns="0" rIns="0" bIns="0" anchor="t">
            <a:spAutoFit/>
          </a:bodyPr>
          <a:lstStyle/>
          <a:p>
            <a:pPr algn="r"/>
            <a:r>
              <a:rPr sz="1050" b="1" i="0">
                <a:solidFill>
                  <a:srgbClr val="FBF7EF"/>
                </a:solidFill>
                <a:latin typeface="Consolas"/>
              </a:rPr>
              <a:t>STATUS: ACTIVE PROFILE</a:t>
            </a:r>
          </a:p>
        </p:txBody>
      </p:sp>
      <p:cxnSp>
        <p:nvCxnSpPr>
          <p:cNvPr id="10" name="Connector 9"/>
          <p:cNvCxnSpPr/>
          <p:nvPr/>
        </p:nvCxnSpPr>
        <p:spPr>
          <a:xfrm>
            <a:off x="640080" y="1664208"/>
            <a:ext cx="10908792" cy="0"/>
          </a:xfrm>
          <a:prstGeom prst="line">
            <a:avLst/>
          </a:prstGeom>
          <a:ln w="15875">
            <a:solidFill>
              <a:srgbClr val="B9AE93"/>
            </a:solidFill>
            <a:prstDash val="dash"/>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005840" y="1792224"/>
            <a:ext cx="457200" cy="548640"/>
          </a:xfrm>
          <a:prstGeom prst="rect">
            <a:avLst/>
          </a:prstGeom>
          <a:noFill/>
        </p:spPr>
        <p:txBody>
          <a:bodyPr wrap="square" lIns="0" tIns="0" rIns="0" bIns="0" anchor="t">
            <a:spAutoFit/>
          </a:bodyPr>
          <a:lstStyle/>
          <a:p>
            <a:pPr algn="l"/>
            <a:r>
              <a:rPr sz="3400" b="1" i="0">
                <a:solidFill>
                  <a:srgbClr val="E8785A"/>
                </a:solidFill>
                <a:latin typeface="Georgia"/>
              </a:rPr>
              <a:t>“</a:t>
            </a:r>
          </a:p>
        </p:txBody>
      </p:sp>
      <p:sp>
        <p:nvSpPr>
          <p:cNvPr id="12" name="TextBox 11"/>
          <p:cNvSpPr txBox="1"/>
          <p:nvPr/>
        </p:nvSpPr>
        <p:spPr>
          <a:xfrm>
            <a:off x="1463040" y="1837944"/>
            <a:ext cx="9720072" cy="594360"/>
          </a:xfrm>
          <a:prstGeom prst="rect">
            <a:avLst/>
          </a:prstGeom>
          <a:noFill/>
        </p:spPr>
        <p:txBody>
          <a:bodyPr wrap="square" lIns="0" tIns="0" rIns="0" bIns="0" anchor="t">
            <a:spAutoFit/>
          </a:bodyPr>
          <a:lstStyle/>
          <a:p>
            <a:pPr algn="l">
              <a:lnSpc>
                <a:spcPct val="115000"/>
              </a:lnSpc>
            </a:pPr>
            <a:r>
              <a:rPr sz="1350" b="0" i="1">
                <a:solidFill>
                  <a:srgbClr val="2E2A24"/>
                </a:solidFill>
                <a:latin typeface="Georgia"/>
              </a:rPr>
              <a:t>I booked a home vet visit and paid extra for it, and no one turned up until hours after the slot.</a:t>
            </a:r>
          </a:p>
        </p:txBody>
      </p:sp>
      <p:cxnSp>
        <p:nvCxnSpPr>
          <p:cNvPr id="13" name="Connector 12"/>
          <p:cNvCxnSpPr/>
          <p:nvPr/>
        </p:nvCxnSpPr>
        <p:spPr>
          <a:xfrm>
            <a:off x="640080" y="2569464"/>
            <a:ext cx="10908792" cy="0"/>
          </a:xfrm>
          <a:prstGeom prst="line">
            <a:avLst/>
          </a:prstGeom>
          <a:ln w="15875">
            <a:solidFill>
              <a:srgbClr val="B9AE93"/>
            </a:solidFill>
            <a:prstDash val="dash"/>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85800" y="2679192"/>
            <a:ext cx="3468624" cy="201168"/>
          </a:xfrm>
          <a:prstGeom prst="rect">
            <a:avLst/>
          </a:prstGeom>
          <a:noFill/>
        </p:spPr>
        <p:txBody>
          <a:bodyPr wrap="square" lIns="0" tIns="0" rIns="0" bIns="0" anchor="t">
            <a:spAutoFit/>
          </a:bodyPr>
          <a:lstStyle/>
          <a:p>
            <a:pPr algn="l"/>
            <a:r>
              <a:rPr sz="950" b="0" i="0" spc="60">
                <a:solidFill>
                  <a:srgbClr val="8F8368"/>
                </a:solidFill>
                <a:latin typeface="Consolas"/>
              </a:rPr>
              <a:t>AGE</a:t>
            </a:r>
          </a:p>
        </p:txBody>
      </p:sp>
      <p:sp>
        <p:nvSpPr>
          <p:cNvPr id="15" name="TextBox 14"/>
          <p:cNvSpPr txBox="1"/>
          <p:nvPr/>
        </p:nvSpPr>
        <p:spPr>
          <a:xfrm>
            <a:off x="685800" y="2898648"/>
            <a:ext cx="3468624" cy="320040"/>
          </a:xfrm>
          <a:prstGeom prst="rect">
            <a:avLst/>
          </a:prstGeom>
          <a:noFill/>
        </p:spPr>
        <p:txBody>
          <a:bodyPr wrap="square" lIns="0" tIns="0" rIns="0" bIns="0" anchor="t">
            <a:spAutoFit/>
          </a:bodyPr>
          <a:lstStyle/>
          <a:p>
            <a:pPr algn="l"/>
            <a:r>
              <a:rPr sz="1250" b="1" i="0">
                <a:solidFill>
                  <a:srgbClr val="2E2A24"/>
                </a:solidFill>
                <a:latin typeface="Century Gothic"/>
              </a:rPr>
              <a:t>61</a:t>
            </a:r>
          </a:p>
        </p:txBody>
      </p:sp>
      <p:cxnSp>
        <p:nvCxnSpPr>
          <p:cNvPr id="16" name="Connector 15"/>
          <p:cNvCxnSpPr/>
          <p:nvPr/>
        </p:nvCxnSpPr>
        <p:spPr>
          <a:xfrm>
            <a:off x="0" y="2679192"/>
            <a:ext cx="0" cy="493776"/>
          </a:xfrm>
          <a:prstGeom prst="line">
            <a:avLst/>
          </a:prstGeom>
          <a:ln w="9525">
            <a:solidFill>
              <a:srgbClr val="D8CFB8"/>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291584" y="2679192"/>
            <a:ext cx="3468624" cy="201168"/>
          </a:xfrm>
          <a:prstGeom prst="rect">
            <a:avLst/>
          </a:prstGeom>
          <a:noFill/>
        </p:spPr>
        <p:txBody>
          <a:bodyPr wrap="square" lIns="0" tIns="0" rIns="0" bIns="0" anchor="t">
            <a:spAutoFit/>
          </a:bodyPr>
          <a:lstStyle/>
          <a:p>
            <a:pPr algn="l"/>
            <a:r>
              <a:rPr sz="950" b="0" i="0" spc="60">
                <a:solidFill>
                  <a:srgbClr val="8F8368"/>
                </a:solidFill>
                <a:latin typeface="Consolas"/>
              </a:rPr>
              <a:t>OCCUPATION</a:t>
            </a:r>
          </a:p>
        </p:txBody>
      </p:sp>
      <p:sp>
        <p:nvSpPr>
          <p:cNvPr id="18" name="TextBox 17"/>
          <p:cNvSpPr txBox="1"/>
          <p:nvPr/>
        </p:nvSpPr>
        <p:spPr>
          <a:xfrm>
            <a:off x="4291584" y="2898648"/>
            <a:ext cx="3468624" cy="320040"/>
          </a:xfrm>
          <a:prstGeom prst="rect">
            <a:avLst/>
          </a:prstGeom>
          <a:noFill/>
        </p:spPr>
        <p:txBody>
          <a:bodyPr wrap="square" lIns="0" tIns="0" rIns="0" bIns="0" anchor="t">
            <a:spAutoFit/>
          </a:bodyPr>
          <a:lstStyle/>
          <a:p>
            <a:pPr algn="l"/>
            <a:r>
              <a:rPr sz="1250" b="1" i="0">
                <a:solidFill>
                  <a:srgbClr val="2E2A24"/>
                </a:solidFill>
                <a:latin typeface="Century Gothic"/>
              </a:rPr>
              <a:t>Retired Teacher</a:t>
            </a:r>
          </a:p>
        </p:txBody>
      </p:sp>
      <p:cxnSp>
        <p:nvCxnSpPr>
          <p:cNvPr id="19" name="Connector 18"/>
          <p:cNvCxnSpPr/>
          <p:nvPr/>
        </p:nvCxnSpPr>
        <p:spPr>
          <a:xfrm>
            <a:off x="0" y="2679192"/>
            <a:ext cx="0" cy="493776"/>
          </a:xfrm>
          <a:prstGeom prst="line">
            <a:avLst/>
          </a:prstGeom>
          <a:ln w="9525">
            <a:solidFill>
              <a:srgbClr val="D8CFB8"/>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897368" y="2679192"/>
            <a:ext cx="3468624" cy="201168"/>
          </a:xfrm>
          <a:prstGeom prst="rect">
            <a:avLst/>
          </a:prstGeom>
          <a:noFill/>
        </p:spPr>
        <p:txBody>
          <a:bodyPr wrap="square" lIns="0" tIns="0" rIns="0" bIns="0" anchor="t">
            <a:spAutoFit/>
          </a:bodyPr>
          <a:lstStyle/>
          <a:p>
            <a:pPr algn="l"/>
            <a:r>
              <a:rPr sz="950" b="0" i="0" spc="60">
                <a:solidFill>
                  <a:srgbClr val="8F8368"/>
                </a:solidFill>
                <a:latin typeface="Consolas"/>
              </a:rPr>
              <a:t>LOCATION</a:t>
            </a:r>
          </a:p>
        </p:txBody>
      </p:sp>
      <p:sp>
        <p:nvSpPr>
          <p:cNvPr id="21" name="TextBox 20"/>
          <p:cNvSpPr txBox="1"/>
          <p:nvPr/>
        </p:nvSpPr>
        <p:spPr>
          <a:xfrm>
            <a:off x="7897368" y="2898648"/>
            <a:ext cx="3468624" cy="320040"/>
          </a:xfrm>
          <a:prstGeom prst="rect">
            <a:avLst/>
          </a:prstGeom>
          <a:noFill/>
        </p:spPr>
        <p:txBody>
          <a:bodyPr wrap="square" lIns="0" tIns="0" rIns="0" bIns="0" anchor="t">
            <a:spAutoFit/>
          </a:bodyPr>
          <a:lstStyle/>
          <a:p>
            <a:pPr algn="l"/>
            <a:r>
              <a:rPr sz="1250" b="1" i="0">
                <a:solidFill>
                  <a:srgbClr val="2E2A24"/>
                </a:solidFill>
                <a:latin typeface="Century Gothic"/>
              </a:rPr>
              <a:t>Kochi</a:t>
            </a:r>
          </a:p>
        </p:txBody>
      </p:sp>
      <p:sp>
        <p:nvSpPr>
          <p:cNvPr id="22" name="TextBox 21"/>
          <p:cNvSpPr txBox="1"/>
          <p:nvPr/>
        </p:nvSpPr>
        <p:spPr>
          <a:xfrm>
            <a:off x="685800" y="3246120"/>
            <a:ext cx="3468624" cy="201168"/>
          </a:xfrm>
          <a:prstGeom prst="rect">
            <a:avLst/>
          </a:prstGeom>
          <a:noFill/>
        </p:spPr>
        <p:txBody>
          <a:bodyPr wrap="square" lIns="0" tIns="0" rIns="0" bIns="0" anchor="t">
            <a:spAutoFit/>
          </a:bodyPr>
          <a:lstStyle/>
          <a:p>
            <a:pPr algn="l"/>
            <a:r>
              <a:rPr sz="950" b="0" i="0" spc="60">
                <a:solidFill>
                  <a:srgbClr val="8F8368"/>
                </a:solidFill>
                <a:latin typeface="Consolas"/>
              </a:rPr>
              <a:t>TECH COMFORT</a:t>
            </a:r>
          </a:p>
        </p:txBody>
      </p:sp>
      <p:sp>
        <p:nvSpPr>
          <p:cNvPr id="23" name="TextBox 22"/>
          <p:cNvSpPr txBox="1"/>
          <p:nvPr/>
        </p:nvSpPr>
        <p:spPr>
          <a:xfrm>
            <a:off x="685800" y="3465576"/>
            <a:ext cx="3468624" cy="320040"/>
          </a:xfrm>
          <a:prstGeom prst="rect">
            <a:avLst/>
          </a:prstGeom>
          <a:noFill/>
        </p:spPr>
        <p:txBody>
          <a:bodyPr wrap="square" lIns="0" tIns="0" rIns="0" bIns="0" anchor="t">
            <a:spAutoFit/>
          </a:bodyPr>
          <a:lstStyle/>
          <a:p>
            <a:pPr algn="l"/>
            <a:r>
              <a:rPr sz="1250" b="1" i="0">
                <a:solidFill>
                  <a:srgbClr val="2E2A24"/>
                </a:solidFill>
                <a:latin typeface="Century Gothic"/>
              </a:rPr>
              <a:t>Very Low — prefers phone calls over apps</a:t>
            </a:r>
          </a:p>
        </p:txBody>
      </p:sp>
      <p:cxnSp>
        <p:nvCxnSpPr>
          <p:cNvPr id="24" name="Connector 23"/>
          <p:cNvCxnSpPr/>
          <p:nvPr/>
        </p:nvCxnSpPr>
        <p:spPr>
          <a:xfrm>
            <a:off x="0" y="3246120"/>
            <a:ext cx="0" cy="493776"/>
          </a:xfrm>
          <a:prstGeom prst="line">
            <a:avLst/>
          </a:prstGeom>
          <a:ln w="9525">
            <a:solidFill>
              <a:srgbClr val="D8CFB8"/>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4291584" y="3246120"/>
            <a:ext cx="3468624" cy="201168"/>
          </a:xfrm>
          <a:prstGeom prst="rect">
            <a:avLst/>
          </a:prstGeom>
          <a:noFill/>
        </p:spPr>
        <p:txBody>
          <a:bodyPr wrap="square" lIns="0" tIns="0" rIns="0" bIns="0" anchor="t">
            <a:spAutoFit/>
          </a:bodyPr>
          <a:lstStyle/>
          <a:p>
            <a:pPr algn="l"/>
            <a:r>
              <a:rPr sz="950" b="0" i="0" spc="60">
                <a:solidFill>
                  <a:srgbClr val="8F8368"/>
                </a:solidFill>
                <a:latin typeface="Consolas"/>
              </a:rPr>
              <a:t>VET VISITS / YEAR</a:t>
            </a:r>
          </a:p>
        </p:txBody>
      </p:sp>
      <p:sp>
        <p:nvSpPr>
          <p:cNvPr id="26" name="TextBox 25"/>
          <p:cNvSpPr txBox="1"/>
          <p:nvPr/>
        </p:nvSpPr>
        <p:spPr>
          <a:xfrm>
            <a:off x="4291584" y="3465576"/>
            <a:ext cx="3468624" cy="320040"/>
          </a:xfrm>
          <a:prstGeom prst="rect">
            <a:avLst/>
          </a:prstGeom>
          <a:noFill/>
        </p:spPr>
        <p:txBody>
          <a:bodyPr wrap="square" lIns="0" tIns="0" rIns="0" bIns="0" anchor="t">
            <a:spAutoFit/>
          </a:bodyPr>
          <a:lstStyle/>
          <a:p>
            <a:pPr algn="l"/>
            <a:r>
              <a:rPr sz="1250" b="1" i="0">
                <a:solidFill>
                  <a:srgbClr val="2E2A24"/>
                </a:solidFill>
                <a:latin typeface="Century Gothic"/>
              </a:rPr>
              <a:t>Monthly follow-ups</a:t>
            </a:r>
          </a:p>
        </p:txBody>
      </p:sp>
      <p:cxnSp>
        <p:nvCxnSpPr>
          <p:cNvPr id="27" name="Connector 26"/>
          <p:cNvCxnSpPr/>
          <p:nvPr/>
        </p:nvCxnSpPr>
        <p:spPr>
          <a:xfrm>
            <a:off x="0" y="3246120"/>
            <a:ext cx="0" cy="493776"/>
          </a:xfrm>
          <a:prstGeom prst="line">
            <a:avLst/>
          </a:prstGeom>
          <a:ln w="9525">
            <a:solidFill>
              <a:srgbClr val="D8CFB8"/>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7897368" y="3246120"/>
            <a:ext cx="3468624" cy="201168"/>
          </a:xfrm>
          <a:prstGeom prst="rect">
            <a:avLst/>
          </a:prstGeom>
          <a:noFill/>
        </p:spPr>
        <p:txBody>
          <a:bodyPr wrap="square" lIns="0" tIns="0" rIns="0" bIns="0" anchor="t">
            <a:spAutoFit/>
          </a:bodyPr>
          <a:lstStyle/>
          <a:p>
            <a:pPr algn="l"/>
            <a:r>
              <a:rPr sz="950" b="0" i="0" spc="60">
                <a:solidFill>
                  <a:srgbClr val="8F8368"/>
                </a:solidFill>
                <a:latin typeface="Consolas"/>
              </a:rPr>
              <a:t>PET(S)</a:t>
            </a:r>
          </a:p>
        </p:txBody>
      </p:sp>
      <p:sp>
        <p:nvSpPr>
          <p:cNvPr id="29" name="TextBox 28"/>
          <p:cNvSpPr txBox="1"/>
          <p:nvPr/>
        </p:nvSpPr>
        <p:spPr>
          <a:xfrm>
            <a:off x="7897368" y="3465576"/>
            <a:ext cx="3468624" cy="320040"/>
          </a:xfrm>
          <a:prstGeom prst="rect">
            <a:avLst/>
          </a:prstGeom>
          <a:noFill/>
        </p:spPr>
        <p:txBody>
          <a:bodyPr wrap="square" lIns="0" tIns="0" rIns="0" bIns="0" anchor="t">
            <a:spAutoFit/>
          </a:bodyPr>
          <a:lstStyle/>
          <a:p>
            <a:pPr algn="l"/>
            <a:r>
              <a:rPr sz="1250" b="1" i="0">
                <a:solidFill>
                  <a:srgbClr val="2E2A24"/>
                </a:solidFill>
                <a:latin typeface="Century Gothic"/>
              </a:rPr>
              <a:t>Senior Labrador (11 years, arthritis)</a:t>
            </a:r>
          </a:p>
        </p:txBody>
      </p:sp>
      <p:cxnSp>
        <p:nvCxnSpPr>
          <p:cNvPr id="30" name="Connector 29"/>
          <p:cNvCxnSpPr/>
          <p:nvPr/>
        </p:nvCxnSpPr>
        <p:spPr>
          <a:xfrm>
            <a:off x="640080" y="3867912"/>
            <a:ext cx="10908792" cy="0"/>
          </a:xfrm>
          <a:prstGeom prst="line">
            <a:avLst/>
          </a:prstGeom>
          <a:ln w="15875">
            <a:solidFill>
              <a:srgbClr val="B9AE93"/>
            </a:solidFill>
            <a:prstDash val="dash"/>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694944" y="3995928"/>
            <a:ext cx="310896" cy="310896"/>
          </a:xfrm>
          <a:prstGeom prst="ellipse">
            <a:avLst/>
          </a:prstGeom>
          <a:solidFill>
            <a:srgbClr val="2F7A6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a:t>🎯</a:t>
            </a:r>
          </a:p>
        </p:txBody>
      </p:sp>
      <p:sp>
        <p:nvSpPr>
          <p:cNvPr id="32" name="TextBox 31"/>
          <p:cNvSpPr txBox="1"/>
          <p:nvPr/>
        </p:nvSpPr>
        <p:spPr>
          <a:xfrm>
            <a:off x="1069848" y="4032504"/>
            <a:ext cx="3057144" cy="292608"/>
          </a:xfrm>
          <a:prstGeom prst="rect">
            <a:avLst/>
          </a:prstGeom>
          <a:noFill/>
        </p:spPr>
        <p:txBody>
          <a:bodyPr wrap="square" lIns="0" tIns="0" rIns="0" bIns="0" anchor="t">
            <a:spAutoFit/>
          </a:bodyPr>
          <a:lstStyle/>
          <a:p>
            <a:pPr algn="l"/>
            <a:r>
              <a:rPr sz="1450" b="1" i="0">
                <a:solidFill>
                  <a:srgbClr val="1F5C52"/>
                </a:solidFill>
                <a:latin typeface="Century Gothic"/>
              </a:rPr>
              <a:t>Goals</a:t>
            </a:r>
          </a:p>
        </p:txBody>
      </p:sp>
      <p:sp>
        <p:nvSpPr>
          <p:cNvPr id="33" name="TextBox 32"/>
          <p:cNvSpPr txBox="1"/>
          <p:nvPr/>
        </p:nvSpPr>
        <p:spPr>
          <a:xfrm>
            <a:off x="685800" y="4471416"/>
            <a:ext cx="3331464" cy="2020824"/>
          </a:xfrm>
          <a:prstGeom prst="rect">
            <a:avLst/>
          </a:prstGeom>
          <a:noFill/>
        </p:spPr>
        <p:txBody>
          <a:bodyPr wrap="square" lIns="0" tIns="0" rIns="0" bIns="0">
            <a:spAutoFit/>
          </a:bodyPr>
          <a:lstStyle/>
          <a:p>
            <a:pPr>
              <a:lnSpc>
                <a:spcPct val="105000"/>
              </a:lnSpc>
              <a:spcAft>
                <a:spcPts val="500"/>
              </a:spcAft>
            </a:pPr>
            <a:r>
              <a:rPr sz="1050" b="1">
                <a:solidFill>
                  <a:srgbClr val="E8785A"/>
                </a:solidFill>
                <a:latin typeface="Georgia"/>
              </a:rPr>
              <a:t>•  </a:t>
            </a:r>
            <a:r>
              <a:rPr sz="1050">
                <a:solidFill>
                  <a:srgbClr val="2E2A24"/>
                </a:solidFill>
                <a:latin typeface="Georgia"/>
              </a:rPr>
              <a:t>Get a vet to physically check her ageing dog at home</a:t>
            </a:r>
          </a:p>
          <a:p>
            <a:pPr>
              <a:lnSpc>
                <a:spcPct val="105000"/>
              </a:lnSpc>
              <a:spcAft>
                <a:spcPts val="500"/>
              </a:spcAft>
            </a:pPr>
            <a:r>
              <a:rPr sz="1050" b="1">
                <a:solidFill>
                  <a:srgbClr val="E8785A"/>
                </a:solidFill>
                <a:latin typeface="Georgia"/>
              </a:rPr>
              <a:t>•  </a:t>
            </a:r>
            <a:r>
              <a:rPr sz="1050">
                <a:solidFill>
                  <a:srgbClr val="2E2A24"/>
                </a:solidFill>
                <a:latin typeface="Georgia"/>
              </a:rPr>
              <a:t>Refill arthritis medication reliably</a:t>
            </a:r>
          </a:p>
          <a:p>
            <a:pPr>
              <a:lnSpc>
                <a:spcPct val="105000"/>
              </a:lnSpc>
              <a:spcAft>
                <a:spcPts val="500"/>
              </a:spcAft>
            </a:pPr>
            <a:r>
              <a:rPr sz="1050" b="1">
                <a:solidFill>
                  <a:srgbClr val="E8785A"/>
                </a:solidFill>
                <a:latin typeface="Georgia"/>
              </a:rPr>
              <a:t>•  </a:t>
            </a:r>
            <a:r>
              <a:rPr sz="1050">
                <a:solidFill>
                  <a:srgbClr val="2E2A24"/>
                </a:solidFill>
                <a:latin typeface="Georgia"/>
              </a:rPr>
              <a:t>Avoid dealing with complicated app screens</a:t>
            </a:r>
          </a:p>
          <a:p>
            <a:pPr>
              <a:lnSpc>
                <a:spcPct val="105000"/>
              </a:lnSpc>
              <a:spcAft>
                <a:spcPts val="500"/>
              </a:spcAft>
            </a:pPr>
            <a:r>
              <a:rPr sz="1050" b="1">
                <a:solidFill>
                  <a:srgbClr val="E8785A"/>
                </a:solidFill>
                <a:latin typeface="Georgia"/>
              </a:rPr>
              <a:t>•  </a:t>
            </a:r>
            <a:r>
              <a:rPr sz="1050">
                <a:solidFill>
                  <a:srgbClr val="2E2A24"/>
                </a:solidFill>
                <a:latin typeface="Georgia"/>
              </a:rPr>
              <a:t>Get confirmation a booking actually went through</a:t>
            </a:r>
          </a:p>
        </p:txBody>
      </p:sp>
      <p:cxnSp>
        <p:nvCxnSpPr>
          <p:cNvPr id="34" name="Connector 33"/>
          <p:cNvCxnSpPr/>
          <p:nvPr/>
        </p:nvCxnSpPr>
        <p:spPr>
          <a:xfrm>
            <a:off x="0" y="4014216"/>
            <a:ext cx="0" cy="2478024"/>
          </a:xfrm>
          <a:prstGeom prst="line">
            <a:avLst/>
          </a:prstGeom>
          <a:ln w="12700">
            <a:solidFill>
              <a:srgbClr val="D8CFB8"/>
            </a:solidFill>
            <a:prstDash val="dash"/>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4300728" y="3995928"/>
            <a:ext cx="310896" cy="310896"/>
          </a:xfrm>
          <a:prstGeom prst="ellipse">
            <a:avLst/>
          </a:prstGeom>
          <a:solidFill>
            <a:srgbClr val="2F7A6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a:t>⚠</a:t>
            </a:r>
          </a:p>
        </p:txBody>
      </p:sp>
      <p:sp>
        <p:nvSpPr>
          <p:cNvPr id="36" name="TextBox 35"/>
          <p:cNvSpPr txBox="1"/>
          <p:nvPr/>
        </p:nvSpPr>
        <p:spPr>
          <a:xfrm>
            <a:off x="4675632" y="4032504"/>
            <a:ext cx="3057144" cy="292608"/>
          </a:xfrm>
          <a:prstGeom prst="rect">
            <a:avLst/>
          </a:prstGeom>
          <a:noFill/>
        </p:spPr>
        <p:txBody>
          <a:bodyPr wrap="square" lIns="0" tIns="0" rIns="0" bIns="0" anchor="t">
            <a:spAutoFit/>
          </a:bodyPr>
          <a:lstStyle/>
          <a:p>
            <a:pPr algn="l"/>
            <a:r>
              <a:rPr sz="1450" b="1" i="0">
                <a:solidFill>
                  <a:srgbClr val="1F5C52"/>
                </a:solidFill>
                <a:latin typeface="Century Gothic"/>
              </a:rPr>
              <a:t>Frustrations</a:t>
            </a:r>
          </a:p>
        </p:txBody>
      </p:sp>
      <p:sp>
        <p:nvSpPr>
          <p:cNvPr id="37" name="TextBox 36"/>
          <p:cNvSpPr txBox="1"/>
          <p:nvPr/>
        </p:nvSpPr>
        <p:spPr>
          <a:xfrm>
            <a:off x="4291584" y="4471416"/>
            <a:ext cx="3331464" cy="2020824"/>
          </a:xfrm>
          <a:prstGeom prst="rect">
            <a:avLst/>
          </a:prstGeom>
          <a:noFill/>
        </p:spPr>
        <p:txBody>
          <a:bodyPr wrap="square" lIns="0" tIns="0" rIns="0" bIns="0">
            <a:spAutoFit/>
          </a:bodyPr>
          <a:lstStyle/>
          <a:p>
            <a:pPr>
              <a:lnSpc>
                <a:spcPct val="105000"/>
              </a:lnSpc>
              <a:spcAft>
                <a:spcPts val="500"/>
              </a:spcAft>
            </a:pPr>
            <a:r>
              <a:rPr sz="1050" b="1">
                <a:solidFill>
                  <a:srgbClr val="E8785A"/>
                </a:solidFill>
                <a:latin typeface="Georgia"/>
              </a:rPr>
              <a:t>•  </a:t>
            </a:r>
            <a:r>
              <a:rPr sz="1050">
                <a:solidFill>
                  <a:srgbClr val="2E2A24"/>
                </a:solidFill>
                <a:latin typeface="Georgia"/>
              </a:rPr>
              <a:t>Kochi isn't covered by same-day delivery, so refills run slow</a:t>
            </a:r>
          </a:p>
          <a:p>
            <a:pPr>
              <a:lnSpc>
                <a:spcPct val="105000"/>
              </a:lnSpc>
              <a:spcAft>
                <a:spcPts val="500"/>
              </a:spcAft>
            </a:pPr>
            <a:r>
              <a:rPr sz="1050" b="1">
                <a:solidFill>
                  <a:srgbClr val="E8785A"/>
                </a:solidFill>
                <a:latin typeface="Georgia"/>
              </a:rPr>
              <a:t>•  </a:t>
            </a:r>
            <a:r>
              <a:rPr sz="1050">
                <a:solidFill>
                  <a:srgbClr val="2E2A24"/>
                </a:solidFill>
                <a:latin typeface="Georgia"/>
              </a:rPr>
              <a:t>A paid home-visit slot passed with no vet arriving on time</a:t>
            </a:r>
          </a:p>
          <a:p>
            <a:pPr>
              <a:lnSpc>
                <a:spcPct val="105000"/>
              </a:lnSpc>
              <a:spcAft>
                <a:spcPts val="500"/>
              </a:spcAft>
            </a:pPr>
            <a:r>
              <a:rPr sz="1050" b="1">
                <a:solidFill>
                  <a:srgbClr val="E8785A"/>
                </a:solidFill>
                <a:latin typeface="Georgia"/>
              </a:rPr>
              <a:t>•  </a:t>
            </a:r>
            <a:r>
              <a:rPr sz="1050">
                <a:solidFill>
                  <a:srgbClr val="2E2A24"/>
                </a:solidFill>
                <a:latin typeface="Georgia"/>
              </a:rPr>
              <a:t>Finds the OTP login confusing to repeat each time</a:t>
            </a:r>
          </a:p>
          <a:p>
            <a:pPr>
              <a:lnSpc>
                <a:spcPct val="105000"/>
              </a:lnSpc>
              <a:spcAft>
                <a:spcPts val="500"/>
              </a:spcAft>
            </a:pPr>
            <a:r>
              <a:rPr sz="1050" b="1">
                <a:solidFill>
                  <a:srgbClr val="E8785A"/>
                </a:solidFill>
                <a:latin typeface="Georgia"/>
              </a:rPr>
              <a:t>•  </a:t>
            </a:r>
            <a:r>
              <a:rPr sz="1050">
                <a:solidFill>
                  <a:srgbClr val="2E2A24"/>
                </a:solidFill>
                <a:latin typeface="Georgia"/>
              </a:rPr>
              <a:t>Prefers calling but can rarely find a direct number</a:t>
            </a:r>
          </a:p>
        </p:txBody>
      </p:sp>
      <p:cxnSp>
        <p:nvCxnSpPr>
          <p:cNvPr id="38" name="Connector 37"/>
          <p:cNvCxnSpPr/>
          <p:nvPr/>
        </p:nvCxnSpPr>
        <p:spPr>
          <a:xfrm>
            <a:off x="0" y="4014216"/>
            <a:ext cx="0" cy="2478024"/>
          </a:xfrm>
          <a:prstGeom prst="line">
            <a:avLst/>
          </a:prstGeom>
          <a:ln w="12700">
            <a:solidFill>
              <a:srgbClr val="D8CFB8"/>
            </a:solidFill>
            <a:prstDash val="dash"/>
          </a:ln>
        </p:spPr>
        <p:style>
          <a:lnRef idx="2">
            <a:schemeClr val="accent1"/>
          </a:lnRef>
          <a:fillRef idx="0">
            <a:schemeClr val="accent1"/>
          </a:fillRef>
          <a:effectRef idx="1">
            <a:schemeClr val="accent1"/>
          </a:effectRef>
          <a:fontRef idx="minor">
            <a:schemeClr val="tx1"/>
          </a:fontRef>
        </p:style>
      </p:cxnSp>
      <p:sp>
        <p:nvSpPr>
          <p:cNvPr id="39" name="Oval 38"/>
          <p:cNvSpPr/>
          <p:nvPr/>
        </p:nvSpPr>
        <p:spPr>
          <a:xfrm>
            <a:off x="7906512" y="3995928"/>
            <a:ext cx="310896" cy="310896"/>
          </a:xfrm>
          <a:prstGeom prst="ellipse">
            <a:avLst/>
          </a:prstGeom>
          <a:solidFill>
            <a:srgbClr val="2F7A6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a:t>📖</a:t>
            </a:r>
          </a:p>
        </p:txBody>
      </p:sp>
      <p:sp>
        <p:nvSpPr>
          <p:cNvPr id="40" name="TextBox 39"/>
          <p:cNvSpPr txBox="1"/>
          <p:nvPr/>
        </p:nvSpPr>
        <p:spPr>
          <a:xfrm>
            <a:off x="8281416" y="4032504"/>
            <a:ext cx="3057144" cy="292608"/>
          </a:xfrm>
          <a:prstGeom prst="rect">
            <a:avLst/>
          </a:prstGeom>
          <a:noFill/>
        </p:spPr>
        <p:txBody>
          <a:bodyPr wrap="square" lIns="0" tIns="0" rIns="0" bIns="0" anchor="t">
            <a:spAutoFit/>
          </a:bodyPr>
          <a:lstStyle/>
          <a:p>
            <a:pPr algn="l"/>
            <a:r>
              <a:rPr sz="1450" b="1" i="0">
                <a:solidFill>
                  <a:srgbClr val="1F5C52"/>
                </a:solidFill>
                <a:latin typeface="Century Gothic"/>
              </a:rPr>
              <a:t>Story</a:t>
            </a:r>
          </a:p>
        </p:txBody>
      </p:sp>
      <p:sp>
        <p:nvSpPr>
          <p:cNvPr id="41" name="TextBox 40"/>
          <p:cNvSpPr txBox="1"/>
          <p:nvPr/>
        </p:nvSpPr>
        <p:spPr>
          <a:xfrm>
            <a:off x="7897368" y="4471416"/>
            <a:ext cx="3331464" cy="2020824"/>
          </a:xfrm>
          <a:prstGeom prst="rect">
            <a:avLst/>
          </a:prstGeom>
          <a:noFill/>
        </p:spPr>
        <p:txBody>
          <a:bodyPr wrap="square" lIns="0" tIns="0" rIns="0" bIns="0" anchor="t">
            <a:spAutoFit/>
          </a:bodyPr>
          <a:lstStyle/>
          <a:p>
            <a:pPr algn="l">
              <a:lnSpc>
                <a:spcPct val="118000"/>
              </a:lnSpc>
            </a:pPr>
            <a:r>
              <a:rPr sz="1050" b="0" i="0">
                <a:solidFill>
                  <a:srgbClr val="2E2A24"/>
                </a:solidFill>
                <a:latin typeface="Georgia"/>
              </a:rPr>
              <a:t>Kavita depends on Supertails to refill her senior dog's arthritis medication and occasionally book home vet visits. One paid home visit went hours past its scheduled slot with no update, which has made her hesitant to rely on it for anything she considers urgent.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4211E"/>
        </a:solidFill>
        <a:effectLst/>
      </p:bgPr>
    </p:bg>
    <p:spTree>
      <p:nvGrpSpPr>
        <p:cNvPr id="1" name=""/>
        <p:cNvGrpSpPr/>
        <p:nvPr/>
      </p:nvGrpSpPr>
      <p:grpSpPr>
        <a:xfrm>
          <a:off x="0" y="0"/>
          <a:ext cx="0" cy="0"/>
          <a:chOff x="0" y="0"/>
          <a:chExt cx="0" cy="0"/>
        </a:xfrm>
      </p:grpSpPr>
      <p:sp>
        <p:nvSpPr>
          <p:cNvPr id="2" name="TextBox 1"/>
          <p:cNvSpPr txBox="1"/>
          <p:nvPr/>
        </p:nvSpPr>
        <p:spPr>
          <a:xfrm>
            <a:off x="502920" y="256032"/>
            <a:ext cx="7315200" cy="320040"/>
          </a:xfrm>
          <a:prstGeom prst="rect">
            <a:avLst/>
          </a:prstGeom>
          <a:noFill/>
        </p:spPr>
        <p:txBody>
          <a:bodyPr wrap="square" lIns="0" tIns="0" rIns="0" bIns="0" anchor="t">
            <a:spAutoFit/>
          </a:bodyPr>
          <a:lstStyle/>
          <a:p>
            <a:pPr algn="l"/>
            <a:r>
              <a:rPr sz="1100" b="0" i="0" spc="150">
                <a:solidFill>
                  <a:srgbClr val="D9A441"/>
                </a:solidFill>
                <a:latin typeface="Consolas"/>
              </a:rPr>
              <a:t>PET CARE PERSONA · RECORD 04</a:t>
            </a:r>
          </a:p>
        </p:txBody>
      </p:sp>
      <p:sp>
        <p:nvSpPr>
          <p:cNvPr id="3" name="Rounded Rectangle 2"/>
          <p:cNvSpPr/>
          <p:nvPr/>
        </p:nvSpPr>
        <p:spPr>
          <a:xfrm>
            <a:off x="502920" y="685800"/>
            <a:ext cx="11183112" cy="5989320"/>
          </a:xfrm>
          <a:prstGeom prst="roundRect">
            <a:avLst>
              <a:gd name="adj" fmla="val 3000"/>
            </a:avLst>
          </a:prstGeom>
          <a:solidFill>
            <a:srgbClr val="FB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02920" y="685800"/>
            <a:ext cx="11183112" cy="960120"/>
          </a:xfrm>
          <a:prstGeom prst="rect">
            <a:avLst/>
          </a:prstGeom>
          <a:solidFill>
            <a:srgbClr val="1F5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13816" y="882396"/>
            <a:ext cx="566928" cy="566928"/>
          </a:xfrm>
          <a:prstGeom prst="ellipse">
            <a:avLst/>
          </a:prstGeom>
          <a:solidFill>
            <a:srgbClr val="FBF7E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a:t>🐄</a:t>
            </a:r>
          </a:p>
        </p:txBody>
      </p:sp>
      <p:sp>
        <p:nvSpPr>
          <p:cNvPr id="6" name="TextBox 5"/>
          <p:cNvSpPr txBox="1"/>
          <p:nvPr/>
        </p:nvSpPr>
        <p:spPr>
          <a:xfrm>
            <a:off x="1463040" y="795528"/>
            <a:ext cx="5486400" cy="457200"/>
          </a:xfrm>
          <a:prstGeom prst="rect">
            <a:avLst/>
          </a:prstGeom>
          <a:noFill/>
        </p:spPr>
        <p:txBody>
          <a:bodyPr wrap="square" lIns="0" tIns="0" rIns="0" bIns="0" anchor="t">
            <a:spAutoFit/>
          </a:bodyPr>
          <a:lstStyle/>
          <a:p>
            <a:pPr algn="l"/>
            <a:r>
              <a:rPr sz="2400" b="1" i="0">
                <a:solidFill>
                  <a:srgbClr val="FBF7EF"/>
                </a:solidFill>
                <a:latin typeface="Century Gothic"/>
              </a:rPr>
              <a:t>Suresh Patil</a:t>
            </a:r>
          </a:p>
        </p:txBody>
      </p:sp>
      <p:sp>
        <p:nvSpPr>
          <p:cNvPr id="7" name="TextBox 6"/>
          <p:cNvSpPr txBox="1"/>
          <p:nvPr/>
        </p:nvSpPr>
        <p:spPr>
          <a:xfrm>
            <a:off x="1463040" y="1252728"/>
            <a:ext cx="6400800" cy="320040"/>
          </a:xfrm>
          <a:prstGeom prst="rect">
            <a:avLst/>
          </a:prstGeom>
          <a:noFill/>
        </p:spPr>
        <p:txBody>
          <a:bodyPr wrap="square" lIns="0" tIns="0" rIns="0" bIns="0" anchor="t">
            <a:spAutoFit/>
          </a:bodyPr>
          <a:lstStyle/>
          <a:p>
            <a:pPr algn="l"/>
            <a:r>
              <a:rPr sz="1100" b="0" i="0" spc="100">
                <a:solidFill>
                  <a:srgbClr val="CFE4DF"/>
                </a:solidFill>
                <a:latin typeface="Consolas"/>
              </a:rPr>
              <a:t>FARMER · RURAL MAHARASHTRA</a:t>
            </a:r>
          </a:p>
        </p:txBody>
      </p:sp>
      <p:sp>
        <p:nvSpPr>
          <p:cNvPr id="8" name="TextBox 7"/>
          <p:cNvSpPr txBox="1"/>
          <p:nvPr/>
        </p:nvSpPr>
        <p:spPr>
          <a:xfrm>
            <a:off x="8851392" y="850392"/>
            <a:ext cx="2468880" cy="320040"/>
          </a:xfrm>
          <a:prstGeom prst="rect">
            <a:avLst/>
          </a:prstGeom>
          <a:noFill/>
        </p:spPr>
        <p:txBody>
          <a:bodyPr wrap="square" lIns="0" tIns="0" rIns="0" bIns="0" anchor="t">
            <a:spAutoFit/>
          </a:bodyPr>
          <a:lstStyle/>
          <a:p>
            <a:pPr algn="r"/>
            <a:r>
              <a:rPr sz="1050" b="0" i="0">
                <a:solidFill>
                  <a:srgbClr val="D9A441"/>
                </a:solidFill>
                <a:latin typeface="Consolas"/>
              </a:rPr>
              <a:t>RECORD NO. PC-04004</a:t>
            </a:r>
          </a:p>
        </p:txBody>
      </p:sp>
      <p:sp>
        <p:nvSpPr>
          <p:cNvPr id="9" name="TextBox 8"/>
          <p:cNvSpPr txBox="1"/>
          <p:nvPr/>
        </p:nvSpPr>
        <p:spPr>
          <a:xfrm>
            <a:off x="8851392" y="1216152"/>
            <a:ext cx="2468880" cy="320040"/>
          </a:xfrm>
          <a:prstGeom prst="rect">
            <a:avLst/>
          </a:prstGeom>
          <a:noFill/>
        </p:spPr>
        <p:txBody>
          <a:bodyPr wrap="square" lIns="0" tIns="0" rIns="0" bIns="0" anchor="t">
            <a:spAutoFit/>
          </a:bodyPr>
          <a:lstStyle/>
          <a:p>
            <a:pPr algn="r"/>
            <a:r>
              <a:rPr sz="1050" b="1" i="0">
                <a:solidFill>
                  <a:srgbClr val="FBF7EF"/>
                </a:solidFill>
                <a:latin typeface="Consolas"/>
              </a:rPr>
              <a:t>STATUS: ACTIVE PROFILE</a:t>
            </a:r>
          </a:p>
        </p:txBody>
      </p:sp>
      <p:cxnSp>
        <p:nvCxnSpPr>
          <p:cNvPr id="10" name="Connector 9"/>
          <p:cNvCxnSpPr/>
          <p:nvPr/>
        </p:nvCxnSpPr>
        <p:spPr>
          <a:xfrm>
            <a:off x="640080" y="1664208"/>
            <a:ext cx="10908792" cy="0"/>
          </a:xfrm>
          <a:prstGeom prst="line">
            <a:avLst/>
          </a:prstGeom>
          <a:ln w="15875">
            <a:solidFill>
              <a:srgbClr val="B9AE93"/>
            </a:solidFill>
            <a:prstDash val="dash"/>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005840" y="1792224"/>
            <a:ext cx="457200" cy="548640"/>
          </a:xfrm>
          <a:prstGeom prst="rect">
            <a:avLst/>
          </a:prstGeom>
          <a:noFill/>
        </p:spPr>
        <p:txBody>
          <a:bodyPr wrap="square" lIns="0" tIns="0" rIns="0" bIns="0" anchor="t">
            <a:spAutoFit/>
          </a:bodyPr>
          <a:lstStyle/>
          <a:p>
            <a:pPr algn="l"/>
            <a:r>
              <a:rPr sz="3400" b="1" i="0">
                <a:solidFill>
                  <a:srgbClr val="E8785A"/>
                </a:solidFill>
                <a:latin typeface="Georgia"/>
              </a:rPr>
              <a:t>“</a:t>
            </a:r>
          </a:p>
        </p:txBody>
      </p:sp>
      <p:sp>
        <p:nvSpPr>
          <p:cNvPr id="12" name="TextBox 11"/>
          <p:cNvSpPr txBox="1"/>
          <p:nvPr/>
        </p:nvSpPr>
        <p:spPr>
          <a:xfrm>
            <a:off x="1463040" y="1837944"/>
            <a:ext cx="9720072" cy="594360"/>
          </a:xfrm>
          <a:prstGeom prst="rect">
            <a:avLst/>
          </a:prstGeom>
          <a:noFill/>
        </p:spPr>
        <p:txBody>
          <a:bodyPr wrap="square" lIns="0" tIns="0" rIns="0" bIns="0" anchor="t">
            <a:spAutoFit/>
          </a:bodyPr>
          <a:lstStyle/>
          <a:p>
            <a:pPr algn="l">
              <a:lnSpc>
                <a:spcPct val="115000"/>
              </a:lnSpc>
            </a:pPr>
            <a:r>
              <a:rPr sz="1350" b="0" i="1">
                <a:solidFill>
                  <a:srgbClr val="2E2A24"/>
                </a:solidFill>
                <a:latin typeface="Georgia"/>
              </a:rPr>
              <a:t>There's no same-day delivery out here, so by the time medicine arrives, I've often already found another way.</a:t>
            </a:r>
          </a:p>
        </p:txBody>
      </p:sp>
      <p:cxnSp>
        <p:nvCxnSpPr>
          <p:cNvPr id="13" name="Connector 12"/>
          <p:cNvCxnSpPr/>
          <p:nvPr/>
        </p:nvCxnSpPr>
        <p:spPr>
          <a:xfrm>
            <a:off x="640080" y="2569464"/>
            <a:ext cx="10908792" cy="0"/>
          </a:xfrm>
          <a:prstGeom prst="line">
            <a:avLst/>
          </a:prstGeom>
          <a:ln w="15875">
            <a:solidFill>
              <a:srgbClr val="B9AE93"/>
            </a:solidFill>
            <a:prstDash val="dash"/>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85800" y="2679192"/>
            <a:ext cx="3468624" cy="201168"/>
          </a:xfrm>
          <a:prstGeom prst="rect">
            <a:avLst/>
          </a:prstGeom>
          <a:noFill/>
        </p:spPr>
        <p:txBody>
          <a:bodyPr wrap="square" lIns="0" tIns="0" rIns="0" bIns="0" anchor="t">
            <a:spAutoFit/>
          </a:bodyPr>
          <a:lstStyle/>
          <a:p>
            <a:pPr algn="l"/>
            <a:r>
              <a:rPr sz="950" b="0" i="0" spc="60">
                <a:solidFill>
                  <a:srgbClr val="8F8368"/>
                </a:solidFill>
                <a:latin typeface="Consolas"/>
              </a:rPr>
              <a:t>AGE</a:t>
            </a:r>
          </a:p>
        </p:txBody>
      </p:sp>
      <p:sp>
        <p:nvSpPr>
          <p:cNvPr id="15" name="TextBox 14"/>
          <p:cNvSpPr txBox="1"/>
          <p:nvPr/>
        </p:nvSpPr>
        <p:spPr>
          <a:xfrm>
            <a:off x="685800" y="2898648"/>
            <a:ext cx="3468624" cy="320040"/>
          </a:xfrm>
          <a:prstGeom prst="rect">
            <a:avLst/>
          </a:prstGeom>
          <a:noFill/>
        </p:spPr>
        <p:txBody>
          <a:bodyPr wrap="square" lIns="0" tIns="0" rIns="0" bIns="0" anchor="t">
            <a:spAutoFit/>
          </a:bodyPr>
          <a:lstStyle/>
          <a:p>
            <a:pPr algn="l"/>
            <a:r>
              <a:rPr sz="1250" b="1" i="0">
                <a:solidFill>
                  <a:srgbClr val="2E2A24"/>
                </a:solidFill>
                <a:latin typeface="Century Gothic"/>
              </a:rPr>
              <a:t>45</a:t>
            </a:r>
          </a:p>
        </p:txBody>
      </p:sp>
      <p:cxnSp>
        <p:nvCxnSpPr>
          <p:cNvPr id="16" name="Connector 15"/>
          <p:cNvCxnSpPr/>
          <p:nvPr/>
        </p:nvCxnSpPr>
        <p:spPr>
          <a:xfrm>
            <a:off x="0" y="2679192"/>
            <a:ext cx="0" cy="493776"/>
          </a:xfrm>
          <a:prstGeom prst="line">
            <a:avLst/>
          </a:prstGeom>
          <a:ln w="9525">
            <a:solidFill>
              <a:srgbClr val="D8CFB8"/>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291584" y="2679192"/>
            <a:ext cx="3468624" cy="201168"/>
          </a:xfrm>
          <a:prstGeom prst="rect">
            <a:avLst/>
          </a:prstGeom>
          <a:noFill/>
        </p:spPr>
        <p:txBody>
          <a:bodyPr wrap="square" lIns="0" tIns="0" rIns="0" bIns="0" anchor="t">
            <a:spAutoFit/>
          </a:bodyPr>
          <a:lstStyle/>
          <a:p>
            <a:pPr algn="l"/>
            <a:r>
              <a:rPr sz="950" b="0" i="0" spc="60">
                <a:solidFill>
                  <a:srgbClr val="8F8368"/>
                </a:solidFill>
                <a:latin typeface="Consolas"/>
              </a:rPr>
              <a:t>OCCUPATION</a:t>
            </a:r>
          </a:p>
        </p:txBody>
      </p:sp>
      <p:sp>
        <p:nvSpPr>
          <p:cNvPr id="18" name="TextBox 17"/>
          <p:cNvSpPr txBox="1"/>
          <p:nvPr/>
        </p:nvSpPr>
        <p:spPr>
          <a:xfrm>
            <a:off x="4291584" y="2898648"/>
            <a:ext cx="3468624" cy="320040"/>
          </a:xfrm>
          <a:prstGeom prst="rect">
            <a:avLst/>
          </a:prstGeom>
          <a:noFill/>
        </p:spPr>
        <p:txBody>
          <a:bodyPr wrap="square" lIns="0" tIns="0" rIns="0" bIns="0" anchor="t">
            <a:spAutoFit/>
          </a:bodyPr>
          <a:lstStyle/>
          <a:p>
            <a:pPr algn="l"/>
            <a:r>
              <a:rPr sz="1250" b="1" i="0">
                <a:solidFill>
                  <a:srgbClr val="2E2A24"/>
                </a:solidFill>
                <a:latin typeface="Century Gothic"/>
              </a:rPr>
              <a:t>Farmer</a:t>
            </a:r>
          </a:p>
        </p:txBody>
      </p:sp>
      <p:cxnSp>
        <p:nvCxnSpPr>
          <p:cNvPr id="19" name="Connector 18"/>
          <p:cNvCxnSpPr/>
          <p:nvPr/>
        </p:nvCxnSpPr>
        <p:spPr>
          <a:xfrm>
            <a:off x="0" y="2679192"/>
            <a:ext cx="0" cy="493776"/>
          </a:xfrm>
          <a:prstGeom prst="line">
            <a:avLst/>
          </a:prstGeom>
          <a:ln w="9525">
            <a:solidFill>
              <a:srgbClr val="D8CFB8"/>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897368" y="2679192"/>
            <a:ext cx="3468624" cy="201168"/>
          </a:xfrm>
          <a:prstGeom prst="rect">
            <a:avLst/>
          </a:prstGeom>
          <a:noFill/>
        </p:spPr>
        <p:txBody>
          <a:bodyPr wrap="square" lIns="0" tIns="0" rIns="0" bIns="0" anchor="t">
            <a:spAutoFit/>
          </a:bodyPr>
          <a:lstStyle/>
          <a:p>
            <a:pPr algn="l"/>
            <a:r>
              <a:rPr sz="950" b="0" i="0" spc="60">
                <a:solidFill>
                  <a:srgbClr val="8F8368"/>
                </a:solidFill>
                <a:latin typeface="Consolas"/>
              </a:rPr>
              <a:t>LOCATION</a:t>
            </a:r>
          </a:p>
        </p:txBody>
      </p:sp>
      <p:sp>
        <p:nvSpPr>
          <p:cNvPr id="21" name="TextBox 20"/>
          <p:cNvSpPr txBox="1"/>
          <p:nvPr/>
        </p:nvSpPr>
        <p:spPr>
          <a:xfrm>
            <a:off x="7897368" y="2898648"/>
            <a:ext cx="3468624" cy="320040"/>
          </a:xfrm>
          <a:prstGeom prst="rect">
            <a:avLst/>
          </a:prstGeom>
          <a:noFill/>
        </p:spPr>
        <p:txBody>
          <a:bodyPr wrap="square" lIns="0" tIns="0" rIns="0" bIns="0" anchor="t">
            <a:spAutoFit/>
          </a:bodyPr>
          <a:lstStyle/>
          <a:p>
            <a:pPr algn="l"/>
            <a:r>
              <a:rPr sz="1250" b="1" i="0">
                <a:solidFill>
                  <a:srgbClr val="2E2A24"/>
                </a:solidFill>
                <a:latin typeface="Century Gothic"/>
              </a:rPr>
              <a:t>Rural Maharashtra</a:t>
            </a:r>
          </a:p>
        </p:txBody>
      </p:sp>
      <p:sp>
        <p:nvSpPr>
          <p:cNvPr id="22" name="TextBox 21"/>
          <p:cNvSpPr txBox="1"/>
          <p:nvPr/>
        </p:nvSpPr>
        <p:spPr>
          <a:xfrm>
            <a:off x="685800" y="3246120"/>
            <a:ext cx="3468624" cy="201168"/>
          </a:xfrm>
          <a:prstGeom prst="rect">
            <a:avLst/>
          </a:prstGeom>
          <a:noFill/>
        </p:spPr>
        <p:txBody>
          <a:bodyPr wrap="square" lIns="0" tIns="0" rIns="0" bIns="0" anchor="t">
            <a:spAutoFit/>
          </a:bodyPr>
          <a:lstStyle/>
          <a:p>
            <a:pPr algn="l"/>
            <a:r>
              <a:rPr sz="950" b="0" i="0" spc="60">
                <a:solidFill>
                  <a:srgbClr val="8F8368"/>
                </a:solidFill>
                <a:latin typeface="Consolas"/>
              </a:rPr>
              <a:t>TECH COMFORT</a:t>
            </a:r>
          </a:p>
        </p:txBody>
      </p:sp>
      <p:sp>
        <p:nvSpPr>
          <p:cNvPr id="23" name="TextBox 22"/>
          <p:cNvSpPr txBox="1"/>
          <p:nvPr/>
        </p:nvSpPr>
        <p:spPr>
          <a:xfrm>
            <a:off x="685800" y="3465576"/>
            <a:ext cx="3468624" cy="320040"/>
          </a:xfrm>
          <a:prstGeom prst="rect">
            <a:avLst/>
          </a:prstGeom>
          <a:noFill/>
        </p:spPr>
        <p:txBody>
          <a:bodyPr wrap="square" lIns="0" tIns="0" rIns="0" bIns="0" anchor="t">
            <a:spAutoFit/>
          </a:bodyPr>
          <a:lstStyle/>
          <a:p>
            <a:pPr algn="l"/>
            <a:r>
              <a:rPr sz="1250" b="1" i="0">
                <a:solidFill>
                  <a:srgbClr val="2E2A24"/>
                </a:solidFill>
                <a:latin typeface="Century Gothic"/>
              </a:rPr>
              <a:t>Low — basic smartphone use only</a:t>
            </a:r>
          </a:p>
        </p:txBody>
      </p:sp>
      <p:cxnSp>
        <p:nvCxnSpPr>
          <p:cNvPr id="24" name="Connector 23"/>
          <p:cNvCxnSpPr/>
          <p:nvPr/>
        </p:nvCxnSpPr>
        <p:spPr>
          <a:xfrm>
            <a:off x="0" y="3246120"/>
            <a:ext cx="0" cy="493776"/>
          </a:xfrm>
          <a:prstGeom prst="line">
            <a:avLst/>
          </a:prstGeom>
          <a:ln w="9525">
            <a:solidFill>
              <a:srgbClr val="D8CFB8"/>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4291584" y="3246120"/>
            <a:ext cx="3468624" cy="201168"/>
          </a:xfrm>
          <a:prstGeom prst="rect">
            <a:avLst/>
          </a:prstGeom>
          <a:noFill/>
        </p:spPr>
        <p:txBody>
          <a:bodyPr wrap="square" lIns="0" tIns="0" rIns="0" bIns="0" anchor="t">
            <a:spAutoFit/>
          </a:bodyPr>
          <a:lstStyle/>
          <a:p>
            <a:pPr algn="l"/>
            <a:r>
              <a:rPr sz="950" b="0" i="0" spc="60">
                <a:solidFill>
                  <a:srgbClr val="8F8368"/>
                </a:solidFill>
                <a:latin typeface="Consolas"/>
              </a:rPr>
              <a:t>VET VISITS / YEAR</a:t>
            </a:r>
          </a:p>
        </p:txBody>
      </p:sp>
      <p:sp>
        <p:nvSpPr>
          <p:cNvPr id="26" name="TextBox 25"/>
          <p:cNvSpPr txBox="1"/>
          <p:nvPr/>
        </p:nvSpPr>
        <p:spPr>
          <a:xfrm>
            <a:off x="4291584" y="3465576"/>
            <a:ext cx="3468624" cy="320040"/>
          </a:xfrm>
          <a:prstGeom prst="rect">
            <a:avLst/>
          </a:prstGeom>
          <a:noFill/>
        </p:spPr>
        <p:txBody>
          <a:bodyPr wrap="square" lIns="0" tIns="0" rIns="0" bIns="0" anchor="t">
            <a:spAutoFit/>
          </a:bodyPr>
          <a:lstStyle/>
          <a:p>
            <a:pPr algn="l"/>
            <a:r>
              <a:rPr sz="1250" b="1" i="0">
                <a:solidFill>
                  <a:srgbClr val="2E2A24"/>
                </a:solidFill>
                <a:latin typeface="Century Gothic"/>
              </a:rPr>
              <a:t>As-needed, urgent cases only</a:t>
            </a:r>
          </a:p>
        </p:txBody>
      </p:sp>
      <p:cxnSp>
        <p:nvCxnSpPr>
          <p:cNvPr id="27" name="Connector 26"/>
          <p:cNvCxnSpPr/>
          <p:nvPr/>
        </p:nvCxnSpPr>
        <p:spPr>
          <a:xfrm>
            <a:off x="0" y="3246120"/>
            <a:ext cx="0" cy="493776"/>
          </a:xfrm>
          <a:prstGeom prst="line">
            <a:avLst/>
          </a:prstGeom>
          <a:ln w="9525">
            <a:solidFill>
              <a:srgbClr val="D8CFB8"/>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7897368" y="3246120"/>
            <a:ext cx="3468624" cy="201168"/>
          </a:xfrm>
          <a:prstGeom prst="rect">
            <a:avLst/>
          </a:prstGeom>
          <a:noFill/>
        </p:spPr>
        <p:txBody>
          <a:bodyPr wrap="square" lIns="0" tIns="0" rIns="0" bIns="0" anchor="t">
            <a:spAutoFit/>
          </a:bodyPr>
          <a:lstStyle/>
          <a:p>
            <a:pPr algn="l"/>
            <a:r>
              <a:rPr sz="950" b="0" i="0" spc="60">
                <a:solidFill>
                  <a:srgbClr val="8F8368"/>
                </a:solidFill>
                <a:latin typeface="Consolas"/>
              </a:rPr>
              <a:t>PET(S)</a:t>
            </a:r>
          </a:p>
        </p:txBody>
      </p:sp>
      <p:sp>
        <p:nvSpPr>
          <p:cNvPr id="29" name="TextBox 28"/>
          <p:cNvSpPr txBox="1"/>
          <p:nvPr/>
        </p:nvSpPr>
        <p:spPr>
          <a:xfrm>
            <a:off x="7897368" y="3465576"/>
            <a:ext cx="3468624" cy="320040"/>
          </a:xfrm>
          <a:prstGeom prst="rect">
            <a:avLst/>
          </a:prstGeom>
          <a:noFill/>
        </p:spPr>
        <p:txBody>
          <a:bodyPr wrap="square" lIns="0" tIns="0" rIns="0" bIns="0" anchor="t">
            <a:spAutoFit/>
          </a:bodyPr>
          <a:lstStyle/>
          <a:p>
            <a:pPr algn="l"/>
            <a:r>
              <a:rPr sz="1250" b="1" i="0">
                <a:solidFill>
                  <a:srgbClr val="2E2A24"/>
                </a:solidFill>
                <a:latin typeface="Century Gothic"/>
              </a:rPr>
              <a:t>12 Cattle + 1 Farm Dog</a:t>
            </a:r>
          </a:p>
        </p:txBody>
      </p:sp>
      <p:cxnSp>
        <p:nvCxnSpPr>
          <p:cNvPr id="30" name="Connector 29"/>
          <p:cNvCxnSpPr/>
          <p:nvPr/>
        </p:nvCxnSpPr>
        <p:spPr>
          <a:xfrm>
            <a:off x="640080" y="3867912"/>
            <a:ext cx="10908792" cy="0"/>
          </a:xfrm>
          <a:prstGeom prst="line">
            <a:avLst/>
          </a:prstGeom>
          <a:ln w="15875">
            <a:solidFill>
              <a:srgbClr val="B9AE93"/>
            </a:solidFill>
            <a:prstDash val="dash"/>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694944" y="3995928"/>
            <a:ext cx="310896" cy="310896"/>
          </a:xfrm>
          <a:prstGeom prst="ellipse">
            <a:avLst/>
          </a:prstGeom>
          <a:solidFill>
            <a:srgbClr val="2F7A6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a:t>🎯</a:t>
            </a:r>
          </a:p>
        </p:txBody>
      </p:sp>
      <p:sp>
        <p:nvSpPr>
          <p:cNvPr id="32" name="TextBox 31"/>
          <p:cNvSpPr txBox="1"/>
          <p:nvPr/>
        </p:nvSpPr>
        <p:spPr>
          <a:xfrm>
            <a:off x="1069848" y="4032504"/>
            <a:ext cx="3057144" cy="292608"/>
          </a:xfrm>
          <a:prstGeom prst="rect">
            <a:avLst/>
          </a:prstGeom>
          <a:noFill/>
        </p:spPr>
        <p:txBody>
          <a:bodyPr wrap="square" lIns="0" tIns="0" rIns="0" bIns="0" anchor="t">
            <a:spAutoFit/>
          </a:bodyPr>
          <a:lstStyle/>
          <a:p>
            <a:pPr algn="l"/>
            <a:r>
              <a:rPr sz="1450" b="1" i="0">
                <a:solidFill>
                  <a:srgbClr val="1F5C52"/>
                </a:solidFill>
                <a:latin typeface="Century Gothic"/>
              </a:rPr>
              <a:t>Goals</a:t>
            </a:r>
          </a:p>
        </p:txBody>
      </p:sp>
      <p:sp>
        <p:nvSpPr>
          <p:cNvPr id="33" name="TextBox 32"/>
          <p:cNvSpPr txBox="1"/>
          <p:nvPr/>
        </p:nvSpPr>
        <p:spPr>
          <a:xfrm>
            <a:off x="685800" y="4471416"/>
            <a:ext cx="3331464" cy="2020824"/>
          </a:xfrm>
          <a:prstGeom prst="rect">
            <a:avLst/>
          </a:prstGeom>
          <a:noFill/>
        </p:spPr>
        <p:txBody>
          <a:bodyPr wrap="square" lIns="0" tIns="0" rIns="0" bIns="0">
            <a:spAutoFit/>
          </a:bodyPr>
          <a:lstStyle/>
          <a:p>
            <a:pPr>
              <a:lnSpc>
                <a:spcPct val="105000"/>
              </a:lnSpc>
              <a:spcAft>
                <a:spcPts val="500"/>
              </a:spcAft>
            </a:pPr>
            <a:r>
              <a:rPr sz="1050" b="1">
                <a:solidFill>
                  <a:srgbClr val="E8785A"/>
                </a:solidFill>
                <a:latin typeface="Georgia"/>
              </a:rPr>
              <a:t>•  </a:t>
            </a:r>
            <a:r>
              <a:rPr sz="1050">
                <a:solidFill>
                  <a:srgbClr val="2E2A24"/>
                </a:solidFill>
                <a:latin typeface="Georgia"/>
              </a:rPr>
              <a:t>Get basic veterinary advice without traveling into town</a:t>
            </a:r>
          </a:p>
          <a:p>
            <a:pPr>
              <a:lnSpc>
                <a:spcPct val="105000"/>
              </a:lnSpc>
              <a:spcAft>
                <a:spcPts val="500"/>
              </a:spcAft>
            </a:pPr>
            <a:r>
              <a:rPr sz="1050" b="1">
                <a:solidFill>
                  <a:srgbClr val="E8785A"/>
                </a:solidFill>
                <a:latin typeface="Georgia"/>
              </a:rPr>
              <a:t>•  </a:t>
            </a:r>
            <a:r>
              <a:rPr sz="1050">
                <a:solidFill>
                  <a:srgbClr val="2E2A24"/>
                </a:solidFill>
                <a:latin typeface="Georgia"/>
              </a:rPr>
              <a:t>Have medicine actually reach his village reliably</a:t>
            </a:r>
          </a:p>
          <a:p>
            <a:pPr>
              <a:lnSpc>
                <a:spcPct val="105000"/>
              </a:lnSpc>
              <a:spcAft>
                <a:spcPts val="500"/>
              </a:spcAft>
            </a:pPr>
            <a:r>
              <a:rPr sz="1050" b="1">
                <a:solidFill>
                  <a:srgbClr val="E8785A"/>
                </a:solidFill>
                <a:latin typeface="Georgia"/>
              </a:rPr>
              <a:t>•  </a:t>
            </a:r>
            <a:r>
              <a:rPr sz="1050">
                <a:solidFill>
                  <a:srgbClr val="2E2A24"/>
                </a:solidFill>
                <a:latin typeface="Georgia"/>
              </a:rPr>
              <a:t>See honest delivery timelines upfront</a:t>
            </a:r>
          </a:p>
          <a:p>
            <a:pPr>
              <a:lnSpc>
                <a:spcPct val="105000"/>
              </a:lnSpc>
              <a:spcAft>
                <a:spcPts val="500"/>
              </a:spcAft>
            </a:pPr>
            <a:r>
              <a:rPr sz="1050" b="1">
                <a:solidFill>
                  <a:srgbClr val="E8785A"/>
                </a:solidFill>
                <a:latin typeface="Georgia"/>
              </a:rPr>
              <a:t>•  </a:t>
            </a:r>
            <a:r>
              <a:rPr sz="1050">
                <a:solidFill>
                  <a:srgbClr val="2E2A24"/>
                </a:solidFill>
                <a:latin typeface="Georgia"/>
              </a:rPr>
              <a:t>Find affordable options for livestock as well as his dog</a:t>
            </a:r>
          </a:p>
        </p:txBody>
      </p:sp>
      <p:cxnSp>
        <p:nvCxnSpPr>
          <p:cNvPr id="34" name="Connector 33"/>
          <p:cNvCxnSpPr/>
          <p:nvPr/>
        </p:nvCxnSpPr>
        <p:spPr>
          <a:xfrm>
            <a:off x="0" y="4014216"/>
            <a:ext cx="0" cy="2478024"/>
          </a:xfrm>
          <a:prstGeom prst="line">
            <a:avLst/>
          </a:prstGeom>
          <a:ln w="12700">
            <a:solidFill>
              <a:srgbClr val="D8CFB8"/>
            </a:solidFill>
            <a:prstDash val="dash"/>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4300728" y="3995928"/>
            <a:ext cx="310896" cy="310896"/>
          </a:xfrm>
          <a:prstGeom prst="ellipse">
            <a:avLst/>
          </a:prstGeom>
          <a:solidFill>
            <a:srgbClr val="2F7A6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a:t>⚠</a:t>
            </a:r>
          </a:p>
        </p:txBody>
      </p:sp>
      <p:sp>
        <p:nvSpPr>
          <p:cNvPr id="36" name="TextBox 35"/>
          <p:cNvSpPr txBox="1"/>
          <p:nvPr/>
        </p:nvSpPr>
        <p:spPr>
          <a:xfrm>
            <a:off x="4675632" y="4032504"/>
            <a:ext cx="3057144" cy="292608"/>
          </a:xfrm>
          <a:prstGeom prst="rect">
            <a:avLst/>
          </a:prstGeom>
          <a:noFill/>
        </p:spPr>
        <p:txBody>
          <a:bodyPr wrap="square" lIns="0" tIns="0" rIns="0" bIns="0" anchor="t">
            <a:spAutoFit/>
          </a:bodyPr>
          <a:lstStyle/>
          <a:p>
            <a:pPr algn="l"/>
            <a:r>
              <a:rPr sz="1450" b="1" i="0">
                <a:solidFill>
                  <a:srgbClr val="1F5C52"/>
                </a:solidFill>
                <a:latin typeface="Century Gothic"/>
              </a:rPr>
              <a:t>Frustrations</a:t>
            </a:r>
          </a:p>
        </p:txBody>
      </p:sp>
      <p:sp>
        <p:nvSpPr>
          <p:cNvPr id="37" name="TextBox 36"/>
          <p:cNvSpPr txBox="1"/>
          <p:nvPr/>
        </p:nvSpPr>
        <p:spPr>
          <a:xfrm>
            <a:off x="4291584" y="4471416"/>
            <a:ext cx="3331464" cy="2020824"/>
          </a:xfrm>
          <a:prstGeom prst="rect">
            <a:avLst/>
          </a:prstGeom>
          <a:noFill/>
        </p:spPr>
        <p:txBody>
          <a:bodyPr wrap="square" lIns="0" tIns="0" rIns="0" bIns="0">
            <a:spAutoFit/>
          </a:bodyPr>
          <a:lstStyle/>
          <a:p>
            <a:pPr>
              <a:lnSpc>
                <a:spcPct val="105000"/>
              </a:lnSpc>
              <a:spcAft>
                <a:spcPts val="500"/>
              </a:spcAft>
            </a:pPr>
            <a:r>
              <a:rPr sz="1050" b="1">
                <a:solidFill>
                  <a:srgbClr val="E8785A"/>
                </a:solidFill>
                <a:latin typeface="Georgia"/>
              </a:rPr>
              <a:t>•  </a:t>
            </a:r>
            <a:r>
              <a:rPr sz="1050">
                <a:solidFill>
                  <a:srgbClr val="2E2A24"/>
                </a:solidFill>
                <a:latin typeface="Georgia"/>
              </a:rPr>
              <a:t>Same-day / 120-minute delivery only covers select metro cities</a:t>
            </a:r>
          </a:p>
          <a:p>
            <a:pPr>
              <a:lnSpc>
                <a:spcPct val="105000"/>
              </a:lnSpc>
              <a:spcAft>
                <a:spcPts val="500"/>
              </a:spcAft>
            </a:pPr>
            <a:r>
              <a:rPr sz="1050" b="1">
                <a:solidFill>
                  <a:srgbClr val="E8785A"/>
                </a:solidFill>
                <a:latin typeface="Georgia"/>
              </a:rPr>
              <a:t>•  </a:t>
            </a:r>
            <a:r>
              <a:rPr sz="1050">
                <a:solidFill>
                  <a:srgbClr val="2E2A24"/>
                </a:solidFill>
                <a:latin typeface="Georgia"/>
              </a:rPr>
              <a:t>Standard delivery timeline isn't made clear at checkout</a:t>
            </a:r>
          </a:p>
          <a:p>
            <a:pPr>
              <a:lnSpc>
                <a:spcPct val="105000"/>
              </a:lnSpc>
              <a:spcAft>
                <a:spcPts val="500"/>
              </a:spcAft>
            </a:pPr>
            <a:r>
              <a:rPr sz="1050" b="1">
                <a:solidFill>
                  <a:srgbClr val="E8785A"/>
                </a:solidFill>
                <a:latin typeface="Georgia"/>
              </a:rPr>
              <a:t>•  </a:t>
            </a:r>
            <a:r>
              <a:rPr sz="1050">
                <a:solidFill>
                  <a:srgbClr val="2E2A24"/>
                </a:solidFill>
                <a:latin typeface="Georgia"/>
              </a:rPr>
              <a:t>The app assumes an urban delivery experience throughout</a:t>
            </a:r>
          </a:p>
          <a:p>
            <a:pPr>
              <a:lnSpc>
                <a:spcPct val="105000"/>
              </a:lnSpc>
              <a:spcAft>
                <a:spcPts val="500"/>
              </a:spcAft>
            </a:pPr>
            <a:r>
              <a:rPr sz="1050" b="1">
                <a:solidFill>
                  <a:srgbClr val="E8785A"/>
                </a:solidFill>
                <a:latin typeface="Georgia"/>
              </a:rPr>
              <a:t>•  </a:t>
            </a:r>
            <a:r>
              <a:rPr sz="1050">
                <a:solidFill>
                  <a:srgbClr val="2E2A24"/>
                </a:solidFill>
                <a:latin typeface="Georgia"/>
              </a:rPr>
              <a:t>Catalog and vet consults are dog/cat-focused, little for livestock</a:t>
            </a:r>
          </a:p>
        </p:txBody>
      </p:sp>
      <p:cxnSp>
        <p:nvCxnSpPr>
          <p:cNvPr id="38" name="Connector 37"/>
          <p:cNvCxnSpPr/>
          <p:nvPr/>
        </p:nvCxnSpPr>
        <p:spPr>
          <a:xfrm>
            <a:off x="0" y="4014216"/>
            <a:ext cx="0" cy="2478024"/>
          </a:xfrm>
          <a:prstGeom prst="line">
            <a:avLst/>
          </a:prstGeom>
          <a:ln w="12700">
            <a:solidFill>
              <a:srgbClr val="D8CFB8"/>
            </a:solidFill>
            <a:prstDash val="dash"/>
          </a:ln>
        </p:spPr>
        <p:style>
          <a:lnRef idx="2">
            <a:schemeClr val="accent1"/>
          </a:lnRef>
          <a:fillRef idx="0">
            <a:schemeClr val="accent1"/>
          </a:fillRef>
          <a:effectRef idx="1">
            <a:schemeClr val="accent1"/>
          </a:effectRef>
          <a:fontRef idx="minor">
            <a:schemeClr val="tx1"/>
          </a:fontRef>
        </p:style>
      </p:cxnSp>
      <p:sp>
        <p:nvSpPr>
          <p:cNvPr id="39" name="Oval 38"/>
          <p:cNvSpPr/>
          <p:nvPr/>
        </p:nvSpPr>
        <p:spPr>
          <a:xfrm>
            <a:off x="7906512" y="3995928"/>
            <a:ext cx="310896" cy="310896"/>
          </a:xfrm>
          <a:prstGeom prst="ellipse">
            <a:avLst/>
          </a:prstGeom>
          <a:solidFill>
            <a:srgbClr val="2F7A6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a:t>📖</a:t>
            </a:r>
          </a:p>
        </p:txBody>
      </p:sp>
      <p:sp>
        <p:nvSpPr>
          <p:cNvPr id="40" name="TextBox 39"/>
          <p:cNvSpPr txBox="1"/>
          <p:nvPr/>
        </p:nvSpPr>
        <p:spPr>
          <a:xfrm>
            <a:off x="8281416" y="4032504"/>
            <a:ext cx="3057144" cy="292608"/>
          </a:xfrm>
          <a:prstGeom prst="rect">
            <a:avLst/>
          </a:prstGeom>
          <a:noFill/>
        </p:spPr>
        <p:txBody>
          <a:bodyPr wrap="square" lIns="0" tIns="0" rIns="0" bIns="0" anchor="t">
            <a:spAutoFit/>
          </a:bodyPr>
          <a:lstStyle/>
          <a:p>
            <a:pPr algn="l"/>
            <a:r>
              <a:rPr sz="1450" b="1" i="0">
                <a:solidFill>
                  <a:srgbClr val="1F5C52"/>
                </a:solidFill>
                <a:latin typeface="Century Gothic"/>
              </a:rPr>
              <a:t>Story</a:t>
            </a:r>
          </a:p>
        </p:txBody>
      </p:sp>
      <p:sp>
        <p:nvSpPr>
          <p:cNvPr id="41" name="TextBox 40"/>
          <p:cNvSpPr txBox="1"/>
          <p:nvPr/>
        </p:nvSpPr>
        <p:spPr>
          <a:xfrm>
            <a:off x="7897368" y="4471416"/>
            <a:ext cx="3331464" cy="2020824"/>
          </a:xfrm>
          <a:prstGeom prst="rect">
            <a:avLst/>
          </a:prstGeom>
          <a:noFill/>
        </p:spPr>
        <p:txBody>
          <a:bodyPr wrap="square" lIns="0" tIns="0" rIns="0" bIns="0" anchor="t">
            <a:spAutoFit/>
          </a:bodyPr>
          <a:lstStyle/>
          <a:p>
            <a:pPr algn="l">
              <a:lnSpc>
                <a:spcPct val="118000"/>
              </a:lnSpc>
            </a:pPr>
            <a:r>
              <a:rPr sz="1050" b="0" i="0">
                <a:solidFill>
                  <a:srgbClr val="2E2A24"/>
                </a:solidFill>
                <a:latin typeface="Georgia"/>
              </a:rPr>
              <a:t>Suresh's farm dog is the only animal Supertails can really help him with, since the platform's catalog and vet consultations are built around cats and dogs rather than livestock. Even for his dog, standard delivery to his village takes far longer than the app's marketing suggests.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4211E"/>
        </a:solidFill>
        <a:effectLst/>
      </p:bgPr>
    </p:bg>
    <p:spTree>
      <p:nvGrpSpPr>
        <p:cNvPr id="1" name=""/>
        <p:cNvGrpSpPr/>
        <p:nvPr/>
      </p:nvGrpSpPr>
      <p:grpSpPr>
        <a:xfrm>
          <a:off x="0" y="0"/>
          <a:ext cx="0" cy="0"/>
          <a:chOff x="0" y="0"/>
          <a:chExt cx="0" cy="0"/>
        </a:xfrm>
      </p:grpSpPr>
      <p:sp>
        <p:nvSpPr>
          <p:cNvPr id="2" name="TextBox 1"/>
          <p:cNvSpPr txBox="1"/>
          <p:nvPr/>
        </p:nvSpPr>
        <p:spPr>
          <a:xfrm>
            <a:off x="502920" y="256032"/>
            <a:ext cx="7315200" cy="320040"/>
          </a:xfrm>
          <a:prstGeom prst="rect">
            <a:avLst/>
          </a:prstGeom>
          <a:noFill/>
        </p:spPr>
        <p:txBody>
          <a:bodyPr wrap="square" lIns="0" tIns="0" rIns="0" bIns="0" anchor="t">
            <a:spAutoFit/>
          </a:bodyPr>
          <a:lstStyle/>
          <a:p>
            <a:pPr algn="l"/>
            <a:r>
              <a:rPr sz="1100" b="0" i="0" spc="150">
                <a:solidFill>
                  <a:srgbClr val="D9A441"/>
                </a:solidFill>
                <a:latin typeface="Consolas"/>
              </a:rPr>
              <a:t>PET CARE PERSONA · RECORD 05</a:t>
            </a:r>
          </a:p>
        </p:txBody>
      </p:sp>
      <p:sp>
        <p:nvSpPr>
          <p:cNvPr id="3" name="Rounded Rectangle 2"/>
          <p:cNvSpPr/>
          <p:nvPr/>
        </p:nvSpPr>
        <p:spPr>
          <a:xfrm>
            <a:off x="502920" y="685800"/>
            <a:ext cx="11183112" cy="5989320"/>
          </a:xfrm>
          <a:prstGeom prst="roundRect">
            <a:avLst>
              <a:gd name="adj" fmla="val 3000"/>
            </a:avLst>
          </a:prstGeom>
          <a:solidFill>
            <a:srgbClr val="FB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02920" y="685800"/>
            <a:ext cx="11183112" cy="960120"/>
          </a:xfrm>
          <a:prstGeom prst="rect">
            <a:avLst/>
          </a:prstGeom>
          <a:solidFill>
            <a:srgbClr val="1F5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13816" y="882396"/>
            <a:ext cx="566928" cy="566928"/>
          </a:xfrm>
          <a:prstGeom prst="ellipse">
            <a:avLst/>
          </a:prstGeom>
          <a:solidFill>
            <a:srgbClr val="FBF7E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a:t>🐩</a:t>
            </a:r>
          </a:p>
        </p:txBody>
      </p:sp>
      <p:sp>
        <p:nvSpPr>
          <p:cNvPr id="6" name="TextBox 5"/>
          <p:cNvSpPr txBox="1"/>
          <p:nvPr/>
        </p:nvSpPr>
        <p:spPr>
          <a:xfrm>
            <a:off x="1463040" y="795528"/>
            <a:ext cx="5486400" cy="457200"/>
          </a:xfrm>
          <a:prstGeom prst="rect">
            <a:avLst/>
          </a:prstGeom>
          <a:noFill/>
        </p:spPr>
        <p:txBody>
          <a:bodyPr wrap="square" lIns="0" tIns="0" rIns="0" bIns="0" anchor="t">
            <a:spAutoFit/>
          </a:bodyPr>
          <a:lstStyle/>
          <a:p>
            <a:pPr algn="l"/>
            <a:r>
              <a:rPr sz="2400" b="1" i="0">
                <a:solidFill>
                  <a:srgbClr val="FBF7EF"/>
                </a:solidFill>
                <a:latin typeface="Century Gothic"/>
              </a:rPr>
              <a:t>Naina Kapoor</a:t>
            </a:r>
          </a:p>
        </p:txBody>
      </p:sp>
      <p:sp>
        <p:nvSpPr>
          <p:cNvPr id="7" name="TextBox 6"/>
          <p:cNvSpPr txBox="1"/>
          <p:nvPr/>
        </p:nvSpPr>
        <p:spPr>
          <a:xfrm>
            <a:off x="1463040" y="1252728"/>
            <a:ext cx="6400800" cy="320040"/>
          </a:xfrm>
          <a:prstGeom prst="rect">
            <a:avLst/>
          </a:prstGeom>
          <a:noFill/>
        </p:spPr>
        <p:txBody>
          <a:bodyPr wrap="square" lIns="0" tIns="0" rIns="0" bIns="0" anchor="t">
            <a:spAutoFit/>
          </a:bodyPr>
          <a:lstStyle/>
          <a:p>
            <a:pPr algn="l"/>
            <a:r>
              <a:rPr sz="1100" b="0" i="0" spc="100">
                <a:solidFill>
                  <a:srgbClr val="CFE4DF"/>
                </a:solidFill>
                <a:latin typeface="Consolas"/>
              </a:rPr>
              <a:t>KENNEL OWNER · DELHI</a:t>
            </a:r>
          </a:p>
        </p:txBody>
      </p:sp>
      <p:sp>
        <p:nvSpPr>
          <p:cNvPr id="8" name="TextBox 7"/>
          <p:cNvSpPr txBox="1"/>
          <p:nvPr/>
        </p:nvSpPr>
        <p:spPr>
          <a:xfrm>
            <a:off x="8851392" y="850392"/>
            <a:ext cx="2468880" cy="320040"/>
          </a:xfrm>
          <a:prstGeom prst="rect">
            <a:avLst/>
          </a:prstGeom>
          <a:noFill/>
        </p:spPr>
        <p:txBody>
          <a:bodyPr wrap="square" lIns="0" tIns="0" rIns="0" bIns="0" anchor="t">
            <a:spAutoFit/>
          </a:bodyPr>
          <a:lstStyle/>
          <a:p>
            <a:pPr algn="r"/>
            <a:r>
              <a:rPr sz="1050" b="0" i="0">
                <a:solidFill>
                  <a:srgbClr val="D9A441"/>
                </a:solidFill>
                <a:latin typeface="Consolas"/>
              </a:rPr>
              <a:t>RECORD NO. PC-05005</a:t>
            </a:r>
          </a:p>
        </p:txBody>
      </p:sp>
      <p:sp>
        <p:nvSpPr>
          <p:cNvPr id="9" name="TextBox 8"/>
          <p:cNvSpPr txBox="1"/>
          <p:nvPr/>
        </p:nvSpPr>
        <p:spPr>
          <a:xfrm>
            <a:off x="8851392" y="1216152"/>
            <a:ext cx="2468880" cy="320040"/>
          </a:xfrm>
          <a:prstGeom prst="rect">
            <a:avLst/>
          </a:prstGeom>
          <a:noFill/>
        </p:spPr>
        <p:txBody>
          <a:bodyPr wrap="square" lIns="0" tIns="0" rIns="0" bIns="0" anchor="t">
            <a:spAutoFit/>
          </a:bodyPr>
          <a:lstStyle/>
          <a:p>
            <a:pPr algn="r"/>
            <a:r>
              <a:rPr sz="1050" b="1" i="0">
                <a:solidFill>
                  <a:srgbClr val="FBF7EF"/>
                </a:solidFill>
                <a:latin typeface="Consolas"/>
              </a:rPr>
              <a:t>STATUS: ACTIVE PROFILE</a:t>
            </a:r>
          </a:p>
        </p:txBody>
      </p:sp>
      <p:cxnSp>
        <p:nvCxnSpPr>
          <p:cNvPr id="10" name="Connector 9"/>
          <p:cNvCxnSpPr/>
          <p:nvPr/>
        </p:nvCxnSpPr>
        <p:spPr>
          <a:xfrm>
            <a:off x="640080" y="1664208"/>
            <a:ext cx="10908792" cy="0"/>
          </a:xfrm>
          <a:prstGeom prst="line">
            <a:avLst/>
          </a:prstGeom>
          <a:ln w="15875">
            <a:solidFill>
              <a:srgbClr val="B9AE93"/>
            </a:solidFill>
            <a:prstDash val="dash"/>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005840" y="1792224"/>
            <a:ext cx="457200" cy="548640"/>
          </a:xfrm>
          <a:prstGeom prst="rect">
            <a:avLst/>
          </a:prstGeom>
          <a:noFill/>
        </p:spPr>
        <p:txBody>
          <a:bodyPr wrap="square" lIns="0" tIns="0" rIns="0" bIns="0" anchor="t">
            <a:spAutoFit/>
          </a:bodyPr>
          <a:lstStyle/>
          <a:p>
            <a:pPr algn="l"/>
            <a:r>
              <a:rPr sz="3400" b="1" i="0">
                <a:solidFill>
                  <a:srgbClr val="E8785A"/>
                </a:solidFill>
                <a:latin typeface="Georgia"/>
              </a:rPr>
              <a:t>“</a:t>
            </a:r>
          </a:p>
        </p:txBody>
      </p:sp>
      <p:sp>
        <p:nvSpPr>
          <p:cNvPr id="12" name="TextBox 11"/>
          <p:cNvSpPr txBox="1"/>
          <p:nvPr/>
        </p:nvSpPr>
        <p:spPr>
          <a:xfrm>
            <a:off x="1463040" y="1837944"/>
            <a:ext cx="9720072" cy="594360"/>
          </a:xfrm>
          <a:prstGeom prst="rect">
            <a:avLst/>
          </a:prstGeom>
          <a:noFill/>
        </p:spPr>
        <p:txBody>
          <a:bodyPr wrap="square" lIns="0" tIns="0" rIns="0" bIns="0" anchor="t">
            <a:spAutoFit/>
          </a:bodyPr>
          <a:lstStyle/>
          <a:p>
            <a:pPr algn="l">
              <a:lnSpc>
                <a:spcPct val="115000"/>
              </a:lnSpc>
            </a:pPr>
            <a:r>
              <a:rPr sz="1350" b="0" i="1">
                <a:solidFill>
                  <a:srgbClr val="2E2A24"/>
                </a:solidFill>
                <a:latin typeface="Georgia"/>
              </a:rPr>
              <a:t>I'm placing the same order fourteen times over because there's no way to order for more than one pet profile at once.</a:t>
            </a:r>
          </a:p>
        </p:txBody>
      </p:sp>
      <p:cxnSp>
        <p:nvCxnSpPr>
          <p:cNvPr id="13" name="Connector 12"/>
          <p:cNvCxnSpPr/>
          <p:nvPr/>
        </p:nvCxnSpPr>
        <p:spPr>
          <a:xfrm>
            <a:off x="640080" y="2569464"/>
            <a:ext cx="10908792" cy="0"/>
          </a:xfrm>
          <a:prstGeom prst="line">
            <a:avLst/>
          </a:prstGeom>
          <a:ln w="15875">
            <a:solidFill>
              <a:srgbClr val="B9AE93"/>
            </a:solidFill>
            <a:prstDash val="dash"/>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85800" y="2679192"/>
            <a:ext cx="3468624" cy="201168"/>
          </a:xfrm>
          <a:prstGeom prst="rect">
            <a:avLst/>
          </a:prstGeom>
          <a:noFill/>
        </p:spPr>
        <p:txBody>
          <a:bodyPr wrap="square" lIns="0" tIns="0" rIns="0" bIns="0" anchor="t">
            <a:spAutoFit/>
          </a:bodyPr>
          <a:lstStyle/>
          <a:p>
            <a:pPr algn="l"/>
            <a:r>
              <a:rPr sz="950" b="0" i="0" spc="60">
                <a:solidFill>
                  <a:srgbClr val="8F8368"/>
                </a:solidFill>
                <a:latin typeface="Consolas"/>
              </a:rPr>
              <a:t>AGE</a:t>
            </a:r>
          </a:p>
        </p:txBody>
      </p:sp>
      <p:sp>
        <p:nvSpPr>
          <p:cNvPr id="15" name="TextBox 14"/>
          <p:cNvSpPr txBox="1"/>
          <p:nvPr/>
        </p:nvSpPr>
        <p:spPr>
          <a:xfrm>
            <a:off x="685800" y="2898648"/>
            <a:ext cx="3468624" cy="320040"/>
          </a:xfrm>
          <a:prstGeom prst="rect">
            <a:avLst/>
          </a:prstGeom>
          <a:noFill/>
        </p:spPr>
        <p:txBody>
          <a:bodyPr wrap="square" lIns="0" tIns="0" rIns="0" bIns="0" anchor="t">
            <a:spAutoFit/>
          </a:bodyPr>
          <a:lstStyle/>
          <a:p>
            <a:pPr algn="l"/>
            <a:r>
              <a:rPr sz="1250" b="1" i="0">
                <a:solidFill>
                  <a:srgbClr val="2E2A24"/>
                </a:solidFill>
                <a:latin typeface="Century Gothic"/>
              </a:rPr>
              <a:t>29</a:t>
            </a:r>
          </a:p>
        </p:txBody>
      </p:sp>
      <p:cxnSp>
        <p:nvCxnSpPr>
          <p:cNvPr id="16" name="Connector 15"/>
          <p:cNvCxnSpPr/>
          <p:nvPr/>
        </p:nvCxnSpPr>
        <p:spPr>
          <a:xfrm>
            <a:off x="0" y="2679192"/>
            <a:ext cx="0" cy="493776"/>
          </a:xfrm>
          <a:prstGeom prst="line">
            <a:avLst/>
          </a:prstGeom>
          <a:ln w="9525">
            <a:solidFill>
              <a:srgbClr val="D8CFB8"/>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291584" y="2679192"/>
            <a:ext cx="3468624" cy="201168"/>
          </a:xfrm>
          <a:prstGeom prst="rect">
            <a:avLst/>
          </a:prstGeom>
          <a:noFill/>
        </p:spPr>
        <p:txBody>
          <a:bodyPr wrap="square" lIns="0" tIns="0" rIns="0" bIns="0" anchor="t">
            <a:spAutoFit/>
          </a:bodyPr>
          <a:lstStyle/>
          <a:p>
            <a:pPr algn="l"/>
            <a:r>
              <a:rPr sz="950" b="0" i="0" spc="60">
                <a:solidFill>
                  <a:srgbClr val="8F8368"/>
                </a:solidFill>
                <a:latin typeface="Consolas"/>
              </a:rPr>
              <a:t>OCCUPATION</a:t>
            </a:r>
          </a:p>
        </p:txBody>
      </p:sp>
      <p:sp>
        <p:nvSpPr>
          <p:cNvPr id="18" name="TextBox 17"/>
          <p:cNvSpPr txBox="1"/>
          <p:nvPr/>
        </p:nvSpPr>
        <p:spPr>
          <a:xfrm>
            <a:off x="4291584" y="2898648"/>
            <a:ext cx="3468624" cy="320040"/>
          </a:xfrm>
          <a:prstGeom prst="rect">
            <a:avLst/>
          </a:prstGeom>
          <a:noFill/>
        </p:spPr>
        <p:txBody>
          <a:bodyPr wrap="square" lIns="0" tIns="0" rIns="0" bIns="0" anchor="t">
            <a:spAutoFit/>
          </a:bodyPr>
          <a:lstStyle/>
          <a:p>
            <a:pPr algn="l"/>
            <a:r>
              <a:rPr sz="1250" b="1" i="0">
                <a:solidFill>
                  <a:srgbClr val="2E2A24"/>
                </a:solidFill>
                <a:latin typeface="Century Gothic"/>
              </a:rPr>
              <a:t>Dog Breeder / Kennel Owner</a:t>
            </a:r>
          </a:p>
        </p:txBody>
      </p:sp>
      <p:cxnSp>
        <p:nvCxnSpPr>
          <p:cNvPr id="19" name="Connector 18"/>
          <p:cNvCxnSpPr/>
          <p:nvPr/>
        </p:nvCxnSpPr>
        <p:spPr>
          <a:xfrm>
            <a:off x="0" y="2679192"/>
            <a:ext cx="0" cy="493776"/>
          </a:xfrm>
          <a:prstGeom prst="line">
            <a:avLst/>
          </a:prstGeom>
          <a:ln w="9525">
            <a:solidFill>
              <a:srgbClr val="D8CFB8"/>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897368" y="2679192"/>
            <a:ext cx="3468624" cy="201168"/>
          </a:xfrm>
          <a:prstGeom prst="rect">
            <a:avLst/>
          </a:prstGeom>
          <a:noFill/>
        </p:spPr>
        <p:txBody>
          <a:bodyPr wrap="square" lIns="0" tIns="0" rIns="0" bIns="0" anchor="t">
            <a:spAutoFit/>
          </a:bodyPr>
          <a:lstStyle/>
          <a:p>
            <a:pPr algn="l"/>
            <a:r>
              <a:rPr sz="950" b="0" i="0" spc="60">
                <a:solidFill>
                  <a:srgbClr val="8F8368"/>
                </a:solidFill>
                <a:latin typeface="Consolas"/>
              </a:rPr>
              <a:t>LOCATION</a:t>
            </a:r>
          </a:p>
        </p:txBody>
      </p:sp>
      <p:sp>
        <p:nvSpPr>
          <p:cNvPr id="21" name="TextBox 20"/>
          <p:cNvSpPr txBox="1"/>
          <p:nvPr/>
        </p:nvSpPr>
        <p:spPr>
          <a:xfrm>
            <a:off x="7897368" y="2898648"/>
            <a:ext cx="3468624" cy="320040"/>
          </a:xfrm>
          <a:prstGeom prst="rect">
            <a:avLst/>
          </a:prstGeom>
          <a:noFill/>
        </p:spPr>
        <p:txBody>
          <a:bodyPr wrap="square" lIns="0" tIns="0" rIns="0" bIns="0" anchor="t">
            <a:spAutoFit/>
          </a:bodyPr>
          <a:lstStyle/>
          <a:p>
            <a:pPr algn="l"/>
            <a:r>
              <a:rPr sz="1250" b="1" i="0">
                <a:solidFill>
                  <a:srgbClr val="2E2A24"/>
                </a:solidFill>
                <a:latin typeface="Century Gothic"/>
              </a:rPr>
              <a:t>Delhi</a:t>
            </a:r>
          </a:p>
        </p:txBody>
      </p:sp>
      <p:sp>
        <p:nvSpPr>
          <p:cNvPr id="22" name="TextBox 21"/>
          <p:cNvSpPr txBox="1"/>
          <p:nvPr/>
        </p:nvSpPr>
        <p:spPr>
          <a:xfrm>
            <a:off x="685800" y="3246120"/>
            <a:ext cx="3468624" cy="201168"/>
          </a:xfrm>
          <a:prstGeom prst="rect">
            <a:avLst/>
          </a:prstGeom>
          <a:noFill/>
        </p:spPr>
        <p:txBody>
          <a:bodyPr wrap="square" lIns="0" tIns="0" rIns="0" bIns="0" anchor="t">
            <a:spAutoFit/>
          </a:bodyPr>
          <a:lstStyle/>
          <a:p>
            <a:pPr algn="l"/>
            <a:r>
              <a:rPr sz="950" b="0" i="0" spc="60">
                <a:solidFill>
                  <a:srgbClr val="8F8368"/>
                </a:solidFill>
                <a:latin typeface="Consolas"/>
              </a:rPr>
              <a:t>TECH COMFORT</a:t>
            </a:r>
          </a:p>
        </p:txBody>
      </p:sp>
      <p:sp>
        <p:nvSpPr>
          <p:cNvPr id="23" name="TextBox 22"/>
          <p:cNvSpPr txBox="1"/>
          <p:nvPr/>
        </p:nvSpPr>
        <p:spPr>
          <a:xfrm>
            <a:off x="685800" y="3465576"/>
            <a:ext cx="3468624" cy="320040"/>
          </a:xfrm>
          <a:prstGeom prst="rect">
            <a:avLst/>
          </a:prstGeom>
          <a:noFill/>
        </p:spPr>
        <p:txBody>
          <a:bodyPr wrap="square" lIns="0" tIns="0" rIns="0" bIns="0" anchor="t">
            <a:spAutoFit/>
          </a:bodyPr>
          <a:lstStyle/>
          <a:p>
            <a:pPr algn="l"/>
            <a:r>
              <a:rPr sz="1250" b="1" i="0">
                <a:solidFill>
                  <a:srgbClr val="2E2A24"/>
                </a:solidFill>
                <a:latin typeface="Century Gothic"/>
              </a:rPr>
              <a:t>High — power user, wants advanced tools</a:t>
            </a:r>
          </a:p>
        </p:txBody>
      </p:sp>
      <p:cxnSp>
        <p:nvCxnSpPr>
          <p:cNvPr id="24" name="Connector 23"/>
          <p:cNvCxnSpPr/>
          <p:nvPr/>
        </p:nvCxnSpPr>
        <p:spPr>
          <a:xfrm>
            <a:off x="0" y="3246120"/>
            <a:ext cx="0" cy="493776"/>
          </a:xfrm>
          <a:prstGeom prst="line">
            <a:avLst/>
          </a:prstGeom>
          <a:ln w="9525">
            <a:solidFill>
              <a:srgbClr val="D8CFB8"/>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4291584" y="3246120"/>
            <a:ext cx="3468624" cy="201168"/>
          </a:xfrm>
          <a:prstGeom prst="rect">
            <a:avLst/>
          </a:prstGeom>
          <a:noFill/>
        </p:spPr>
        <p:txBody>
          <a:bodyPr wrap="square" lIns="0" tIns="0" rIns="0" bIns="0" anchor="t">
            <a:spAutoFit/>
          </a:bodyPr>
          <a:lstStyle/>
          <a:p>
            <a:pPr algn="l"/>
            <a:r>
              <a:rPr sz="950" b="0" i="0" spc="60">
                <a:solidFill>
                  <a:srgbClr val="8F8368"/>
                </a:solidFill>
                <a:latin typeface="Consolas"/>
              </a:rPr>
              <a:t>VET VISITS / YEAR</a:t>
            </a:r>
          </a:p>
        </p:txBody>
      </p:sp>
      <p:sp>
        <p:nvSpPr>
          <p:cNvPr id="26" name="TextBox 25"/>
          <p:cNvSpPr txBox="1"/>
          <p:nvPr/>
        </p:nvSpPr>
        <p:spPr>
          <a:xfrm>
            <a:off x="4291584" y="3465576"/>
            <a:ext cx="3468624" cy="320040"/>
          </a:xfrm>
          <a:prstGeom prst="rect">
            <a:avLst/>
          </a:prstGeom>
          <a:noFill/>
        </p:spPr>
        <p:txBody>
          <a:bodyPr wrap="square" lIns="0" tIns="0" rIns="0" bIns="0" anchor="t">
            <a:spAutoFit/>
          </a:bodyPr>
          <a:lstStyle/>
          <a:p>
            <a:pPr algn="l"/>
            <a:r>
              <a:rPr sz="1250" b="1" i="0">
                <a:solidFill>
                  <a:srgbClr val="2E2A24"/>
                </a:solidFill>
                <a:latin typeface="Century Gothic"/>
              </a:rPr>
              <a:t>Weekly across the kennel</a:t>
            </a:r>
          </a:p>
        </p:txBody>
      </p:sp>
      <p:cxnSp>
        <p:nvCxnSpPr>
          <p:cNvPr id="27" name="Connector 26"/>
          <p:cNvCxnSpPr/>
          <p:nvPr/>
        </p:nvCxnSpPr>
        <p:spPr>
          <a:xfrm>
            <a:off x="0" y="3246120"/>
            <a:ext cx="0" cy="493776"/>
          </a:xfrm>
          <a:prstGeom prst="line">
            <a:avLst/>
          </a:prstGeom>
          <a:ln w="9525">
            <a:solidFill>
              <a:srgbClr val="D8CFB8"/>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7897368" y="3246120"/>
            <a:ext cx="3468624" cy="201168"/>
          </a:xfrm>
          <a:prstGeom prst="rect">
            <a:avLst/>
          </a:prstGeom>
          <a:noFill/>
        </p:spPr>
        <p:txBody>
          <a:bodyPr wrap="square" lIns="0" tIns="0" rIns="0" bIns="0" anchor="t">
            <a:spAutoFit/>
          </a:bodyPr>
          <a:lstStyle/>
          <a:p>
            <a:pPr algn="l"/>
            <a:r>
              <a:rPr sz="950" b="0" i="0" spc="60">
                <a:solidFill>
                  <a:srgbClr val="8F8368"/>
                </a:solidFill>
                <a:latin typeface="Consolas"/>
              </a:rPr>
              <a:t>PET(S)</a:t>
            </a:r>
          </a:p>
        </p:txBody>
      </p:sp>
      <p:sp>
        <p:nvSpPr>
          <p:cNvPr id="29" name="TextBox 28"/>
          <p:cNvSpPr txBox="1"/>
          <p:nvPr/>
        </p:nvSpPr>
        <p:spPr>
          <a:xfrm>
            <a:off x="7897368" y="3465576"/>
            <a:ext cx="3468624" cy="320040"/>
          </a:xfrm>
          <a:prstGeom prst="rect">
            <a:avLst/>
          </a:prstGeom>
          <a:noFill/>
        </p:spPr>
        <p:txBody>
          <a:bodyPr wrap="square" lIns="0" tIns="0" rIns="0" bIns="0" anchor="t">
            <a:spAutoFit/>
          </a:bodyPr>
          <a:lstStyle/>
          <a:p>
            <a:pPr algn="l"/>
            <a:r>
              <a:rPr sz="1250" b="1" i="0">
                <a:solidFill>
                  <a:srgbClr val="2E2A24"/>
                </a:solidFill>
                <a:latin typeface="Century Gothic"/>
              </a:rPr>
              <a:t>14 Show Dogs (kennel)</a:t>
            </a:r>
          </a:p>
        </p:txBody>
      </p:sp>
      <p:cxnSp>
        <p:nvCxnSpPr>
          <p:cNvPr id="30" name="Connector 29"/>
          <p:cNvCxnSpPr/>
          <p:nvPr/>
        </p:nvCxnSpPr>
        <p:spPr>
          <a:xfrm>
            <a:off x="640080" y="3867912"/>
            <a:ext cx="10908792" cy="0"/>
          </a:xfrm>
          <a:prstGeom prst="line">
            <a:avLst/>
          </a:prstGeom>
          <a:ln w="15875">
            <a:solidFill>
              <a:srgbClr val="B9AE93"/>
            </a:solidFill>
            <a:prstDash val="dash"/>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694944" y="3995928"/>
            <a:ext cx="310896" cy="310896"/>
          </a:xfrm>
          <a:prstGeom prst="ellipse">
            <a:avLst/>
          </a:prstGeom>
          <a:solidFill>
            <a:srgbClr val="2F7A6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a:t>🎯</a:t>
            </a:r>
          </a:p>
        </p:txBody>
      </p:sp>
      <p:sp>
        <p:nvSpPr>
          <p:cNvPr id="32" name="TextBox 31"/>
          <p:cNvSpPr txBox="1"/>
          <p:nvPr/>
        </p:nvSpPr>
        <p:spPr>
          <a:xfrm>
            <a:off x="1069848" y="4032504"/>
            <a:ext cx="3057144" cy="292608"/>
          </a:xfrm>
          <a:prstGeom prst="rect">
            <a:avLst/>
          </a:prstGeom>
          <a:noFill/>
        </p:spPr>
        <p:txBody>
          <a:bodyPr wrap="square" lIns="0" tIns="0" rIns="0" bIns="0" anchor="t">
            <a:spAutoFit/>
          </a:bodyPr>
          <a:lstStyle/>
          <a:p>
            <a:pPr algn="l"/>
            <a:r>
              <a:rPr sz="1450" b="1" i="0">
                <a:solidFill>
                  <a:srgbClr val="1F5C52"/>
                </a:solidFill>
                <a:latin typeface="Century Gothic"/>
              </a:rPr>
              <a:t>Goals</a:t>
            </a:r>
          </a:p>
        </p:txBody>
      </p:sp>
      <p:sp>
        <p:nvSpPr>
          <p:cNvPr id="33" name="TextBox 32"/>
          <p:cNvSpPr txBox="1"/>
          <p:nvPr/>
        </p:nvSpPr>
        <p:spPr>
          <a:xfrm>
            <a:off x="685800" y="4471416"/>
            <a:ext cx="3331464" cy="2020824"/>
          </a:xfrm>
          <a:prstGeom prst="rect">
            <a:avLst/>
          </a:prstGeom>
          <a:noFill/>
        </p:spPr>
        <p:txBody>
          <a:bodyPr wrap="square" lIns="0" tIns="0" rIns="0" bIns="0">
            <a:spAutoFit/>
          </a:bodyPr>
          <a:lstStyle/>
          <a:p>
            <a:pPr>
              <a:lnSpc>
                <a:spcPct val="105000"/>
              </a:lnSpc>
              <a:spcAft>
                <a:spcPts val="500"/>
              </a:spcAft>
            </a:pPr>
            <a:r>
              <a:rPr sz="1050" b="1">
                <a:solidFill>
                  <a:srgbClr val="E8785A"/>
                </a:solidFill>
                <a:latin typeface="Georgia"/>
              </a:rPr>
              <a:t>•  </a:t>
            </a:r>
            <a:r>
              <a:rPr sz="1050">
                <a:solidFill>
                  <a:srgbClr val="2E2A24"/>
                </a:solidFill>
                <a:latin typeface="Georgia"/>
              </a:rPr>
              <a:t>Order supplies and medicine in bulk across many dogs</a:t>
            </a:r>
          </a:p>
          <a:p>
            <a:pPr>
              <a:lnSpc>
                <a:spcPct val="105000"/>
              </a:lnSpc>
              <a:spcAft>
                <a:spcPts val="500"/>
              </a:spcAft>
            </a:pPr>
            <a:r>
              <a:rPr sz="1050" b="1">
                <a:solidFill>
                  <a:srgbClr val="E8785A"/>
                </a:solidFill>
                <a:latin typeface="Georgia"/>
              </a:rPr>
              <a:t>•  </a:t>
            </a:r>
            <a:r>
              <a:rPr sz="1050">
                <a:solidFill>
                  <a:srgbClr val="2E2A24"/>
                </a:solidFill>
                <a:latin typeface="Georgia"/>
              </a:rPr>
              <a:t>Keep separate health and prescription records per dog</a:t>
            </a:r>
          </a:p>
          <a:p>
            <a:pPr>
              <a:lnSpc>
                <a:spcPct val="105000"/>
              </a:lnSpc>
              <a:spcAft>
                <a:spcPts val="500"/>
              </a:spcAft>
            </a:pPr>
            <a:r>
              <a:rPr sz="1050" b="1">
                <a:solidFill>
                  <a:srgbClr val="E8785A"/>
                </a:solidFill>
                <a:latin typeface="Georgia"/>
              </a:rPr>
              <a:t>•  </a:t>
            </a:r>
            <a:r>
              <a:rPr sz="1050">
                <a:solidFill>
                  <a:srgbClr val="2E2A24"/>
                </a:solidFill>
                <a:latin typeface="Georgia"/>
              </a:rPr>
              <a:t>Get priority vet consultation given her order volume</a:t>
            </a:r>
          </a:p>
          <a:p>
            <a:pPr>
              <a:lnSpc>
                <a:spcPct val="105000"/>
              </a:lnSpc>
              <a:spcAft>
                <a:spcPts val="500"/>
              </a:spcAft>
            </a:pPr>
            <a:r>
              <a:rPr sz="1050" b="1">
                <a:solidFill>
                  <a:srgbClr val="E8785A"/>
                </a:solidFill>
                <a:latin typeface="Georgia"/>
              </a:rPr>
              <a:t>•  </a:t>
            </a:r>
            <a:r>
              <a:rPr sz="1050">
                <a:solidFill>
                  <a:srgbClr val="2E2A24"/>
                </a:solidFill>
                <a:latin typeface="Georgia"/>
              </a:rPr>
              <a:t>Manage recurring orders without repeating each time</a:t>
            </a:r>
          </a:p>
        </p:txBody>
      </p:sp>
      <p:cxnSp>
        <p:nvCxnSpPr>
          <p:cNvPr id="34" name="Connector 33"/>
          <p:cNvCxnSpPr/>
          <p:nvPr/>
        </p:nvCxnSpPr>
        <p:spPr>
          <a:xfrm>
            <a:off x="0" y="4014216"/>
            <a:ext cx="0" cy="2478024"/>
          </a:xfrm>
          <a:prstGeom prst="line">
            <a:avLst/>
          </a:prstGeom>
          <a:ln w="12700">
            <a:solidFill>
              <a:srgbClr val="D8CFB8"/>
            </a:solidFill>
            <a:prstDash val="dash"/>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4300728" y="3995928"/>
            <a:ext cx="310896" cy="310896"/>
          </a:xfrm>
          <a:prstGeom prst="ellipse">
            <a:avLst/>
          </a:prstGeom>
          <a:solidFill>
            <a:srgbClr val="2F7A6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a:t>⚠</a:t>
            </a:r>
          </a:p>
        </p:txBody>
      </p:sp>
      <p:sp>
        <p:nvSpPr>
          <p:cNvPr id="36" name="TextBox 35"/>
          <p:cNvSpPr txBox="1"/>
          <p:nvPr/>
        </p:nvSpPr>
        <p:spPr>
          <a:xfrm>
            <a:off x="4675632" y="4032504"/>
            <a:ext cx="3057144" cy="292608"/>
          </a:xfrm>
          <a:prstGeom prst="rect">
            <a:avLst/>
          </a:prstGeom>
          <a:noFill/>
        </p:spPr>
        <p:txBody>
          <a:bodyPr wrap="square" lIns="0" tIns="0" rIns="0" bIns="0" anchor="t">
            <a:spAutoFit/>
          </a:bodyPr>
          <a:lstStyle/>
          <a:p>
            <a:pPr algn="l"/>
            <a:r>
              <a:rPr sz="1450" b="1" i="0">
                <a:solidFill>
                  <a:srgbClr val="1F5C52"/>
                </a:solidFill>
                <a:latin typeface="Century Gothic"/>
              </a:rPr>
              <a:t>Frustrations</a:t>
            </a:r>
          </a:p>
        </p:txBody>
      </p:sp>
      <p:sp>
        <p:nvSpPr>
          <p:cNvPr id="37" name="TextBox 36"/>
          <p:cNvSpPr txBox="1"/>
          <p:nvPr/>
        </p:nvSpPr>
        <p:spPr>
          <a:xfrm>
            <a:off x="4291584" y="4471416"/>
            <a:ext cx="3331464" cy="2020824"/>
          </a:xfrm>
          <a:prstGeom prst="rect">
            <a:avLst/>
          </a:prstGeom>
          <a:noFill/>
        </p:spPr>
        <p:txBody>
          <a:bodyPr wrap="square" lIns="0" tIns="0" rIns="0" bIns="0">
            <a:spAutoFit/>
          </a:bodyPr>
          <a:lstStyle/>
          <a:p>
            <a:pPr>
              <a:lnSpc>
                <a:spcPct val="105000"/>
              </a:lnSpc>
              <a:spcAft>
                <a:spcPts val="500"/>
              </a:spcAft>
            </a:pPr>
            <a:r>
              <a:rPr sz="1050" b="1">
                <a:solidFill>
                  <a:srgbClr val="E8785A"/>
                </a:solidFill>
                <a:latin typeface="Georgia"/>
              </a:rPr>
              <a:t>•  </a:t>
            </a:r>
            <a:r>
              <a:rPr sz="1050">
                <a:solidFill>
                  <a:srgbClr val="2E2A24"/>
                </a:solidFill>
                <a:latin typeface="Georgia"/>
              </a:rPr>
              <a:t>No bulk-ordering or multi-pet-profile support in one checkout</a:t>
            </a:r>
          </a:p>
          <a:p>
            <a:pPr>
              <a:lnSpc>
                <a:spcPct val="105000"/>
              </a:lnSpc>
              <a:spcAft>
                <a:spcPts val="500"/>
              </a:spcAft>
            </a:pPr>
            <a:r>
              <a:rPr sz="1050" b="1">
                <a:solidFill>
                  <a:srgbClr val="E8785A"/>
                </a:solidFill>
                <a:latin typeface="Georgia"/>
              </a:rPr>
              <a:t>•  </a:t>
            </a:r>
            <a:r>
              <a:rPr sz="1050">
                <a:solidFill>
                  <a:srgbClr val="2E2A24"/>
                </a:solidFill>
                <a:latin typeface="Georgia"/>
              </a:rPr>
              <a:t>Repeats the same login and address details for every order</a:t>
            </a:r>
          </a:p>
          <a:p>
            <a:pPr>
              <a:lnSpc>
                <a:spcPct val="105000"/>
              </a:lnSpc>
              <a:spcAft>
                <a:spcPts val="500"/>
              </a:spcAft>
            </a:pPr>
            <a:r>
              <a:rPr sz="1050" b="1">
                <a:solidFill>
                  <a:srgbClr val="E8785A"/>
                </a:solidFill>
                <a:latin typeface="Georgia"/>
              </a:rPr>
              <a:t>•  </a:t>
            </a:r>
            <a:r>
              <a:rPr sz="1050">
                <a:solidFill>
                  <a:srgbClr val="2E2A24"/>
                </a:solidFill>
                <a:latin typeface="Georgia"/>
              </a:rPr>
              <a:t>Vet consultation queue treats her the same as a single-pet owner</a:t>
            </a:r>
          </a:p>
          <a:p>
            <a:pPr>
              <a:lnSpc>
                <a:spcPct val="105000"/>
              </a:lnSpc>
              <a:spcAft>
                <a:spcPts val="500"/>
              </a:spcAft>
            </a:pPr>
            <a:r>
              <a:rPr sz="1050" b="1">
                <a:solidFill>
                  <a:srgbClr val="E8785A"/>
                </a:solidFill>
                <a:latin typeface="Georgia"/>
              </a:rPr>
              <a:t>•  </a:t>
            </a:r>
            <a:r>
              <a:rPr sz="1050">
                <a:solidFill>
                  <a:srgbClr val="2E2A24"/>
                </a:solidFill>
                <a:latin typeface="Georgia"/>
              </a:rPr>
              <a:t>No dedicated business or breeder account tier exists</a:t>
            </a:r>
          </a:p>
        </p:txBody>
      </p:sp>
      <p:cxnSp>
        <p:nvCxnSpPr>
          <p:cNvPr id="38" name="Connector 37"/>
          <p:cNvCxnSpPr/>
          <p:nvPr/>
        </p:nvCxnSpPr>
        <p:spPr>
          <a:xfrm>
            <a:off x="0" y="4014216"/>
            <a:ext cx="0" cy="2478024"/>
          </a:xfrm>
          <a:prstGeom prst="line">
            <a:avLst/>
          </a:prstGeom>
          <a:ln w="12700">
            <a:solidFill>
              <a:srgbClr val="D8CFB8"/>
            </a:solidFill>
            <a:prstDash val="dash"/>
          </a:ln>
        </p:spPr>
        <p:style>
          <a:lnRef idx="2">
            <a:schemeClr val="accent1"/>
          </a:lnRef>
          <a:fillRef idx="0">
            <a:schemeClr val="accent1"/>
          </a:fillRef>
          <a:effectRef idx="1">
            <a:schemeClr val="accent1"/>
          </a:effectRef>
          <a:fontRef idx="minor">
            <a:schemeClr val="tx1"/>
          </a:fontRef>
        </p:style>
      </p:cxnSp>
      <p:sp>
        <p:nvSpPr>
          <p:cNvPr id="39" name="Oval 38"/>
          <p:cNvSpPr/>
          <p:nvPr/>
        </p:nvSpPr>
        <p:spPr>
          <a:xfrm>
            <a:off x="7906512" y="3995928"/>
            <a:ext cx="310896" cy="310896"/>
          </a:xfrm>
          <a:prstGeom prst="ellipse">
            <a:avLst/>
          </a:prstGeom>
          <a:solidFill>
            <a:srgbClr val="2F7A6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a:t>📖</a:t>
            </a:r>
          </a:p>
        </p:txBody>
      </p:sp>
      <p:sp>
        <p:nvSpPr>
          <p:cNvPr id="40" name="TextBox 39"/>
          <p:cNvSpPr txBox="1"/>
          <p:nvPr/>
        </p:nvSpPr>
        <p:spPr>
          <a:xfrm>
            <a:off x="8281416" y="4032504"/>
            <a:ext cx="3057144" cy="292608"/>
          </a:xfrm>
          <a:prstGeom prst="rect">
            <a:avLst/>
          </a:prstGeom>
          <a:noFill/>
        </p:spPr>
        <p:txBody>
          <a:bodyPr wrap="square" lIns="0" tIns="0" rIns="0" bIns="0" anchor="t">
            <a:spAutoFit/>
          </a:bodyPr>
          <a:lstStyle/>
          <a:p>
            <a:pPr algn="l"/>
            <a:r>
              <a:rPr sz="1450" b="1" i="0">
                <a:solidFill>
                  <a:srgbClr val="1F5C52"/>
                </a:solidFill>
                <a:latin typeface="Century Gothic"/>
              </a:rPr>
              <a:t>Story</a:t>
            </a:r>
          </a:p>
        </p:txBody>
      </p:sp>
      <p:sp>
        <p:nvSpPr>
          <p:cNvPr id="41" name="TextBox 40"/>
          <p:cNvSpPr txBox="1"/>
          <p:nvPr/>
        </p:nvSpPr>
        <p:spPr>
          <a:xfrm>
            <a:off x="7897368" y="4471416"/>
            <a:ext cx="3331464" cy="2020824"/>
          </a:xfrm>
          <a:prstGeom prst="rect">
            <a:avLst/>
          </a:prstGeom>
          <a:noFill/>
        </p:spPr>
        <p:txBody>
          <a:bodyPr wrap="square" lIns="0" tIns="0" rIns="0" bIns="0" anchor="t">
            <a:spAutoFit/>
          </a:bodyPr>
          <a:lstStyle/>
          <a:p>
            <a:pPr algn="l">
              <a:lnSpc>
                <a:spcPct val="118000"/>
              </a:lnSpc>
            </a:pPr>
            <a:r>
              <a:rPr sz="1050" b="0" i="0">
                <a:solidFill>
                  <a:srgbClr val="2E2A24"/>
                </a:solidFill>
                <a:latin typeface="Georgia"/>
              </a:rPr>
              <a:t>Naina runs a licensed kennel with fourteen show dogs and finds Supertails well-suited to a single pet owner but not to her scale — she ends up placing repetitive individual orders and consultations because the platform has no concept of managing multiple animals under one account.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4211E"/>
        </a:solidFill>
        <a:effectLst/>
      </p:bgPr>
    </p:bg>
    <p:spTree>
      <p:nvGrpSpPr>
        <p:cNvPr id="1" name=""/>
        <p:cNvGrpSpPr/>
        <p:nvPr/>
      </p:nvGrpSpPr>
      <p:grpSpPr>
        <a:xfrm>
          <a:off x="0" y="0"/>
          <a:ext cx="0" cy="0"/>
          <a:chOff x="0" y="0"/>
          <a:chExt cx="0" cy="0"/>
        </a:xfrm>
      </p:grpSpPr>
      <p:sp>
        <p:nvSpPr>
          <p:cNvPr id="2" name="TextBox 1"/>
          <p:cNvSpPr txBox="1"/>
          <p:nvPr/>
        </p:nvSpPr>
        <p:spPr>
          <a:xfrm>
            <a:off x="640080" y="502920"/>
            <a:ext cx="5486400" cy="320040"/>
          </a:xfrm>
          <a:prstGeom prst="rect">
            <a:avLst/>
          </a:prstGeom>
          <a:noFill/>
        </p:spPr>
        <p:txBody>
          <a:bodyPr wrap="square" lIns="0" tIns="0" rIns="0" bIns="0" anchor="t">
            <a:spAutoFit/>
          </a:bodyPr>
          <a:lstStyle/>
          <a:p>
            <a:pPr algn="l"/>
            <a:r>
              <a:rPr sz="1200" b="0" i="0" spc="180">
                <a:solidFill>
                  <a:srgbClr val="D9A441"/>
                </a:solidFill>
                <a:latin typeface="Consolas"/>
              </a:rPr>
              <a:t>SYNTHESIS</a:t>
            </a:r>
          </a:p>
        </p:txBody>
      </p:sp>
      <p:sp>
        <p:nvSpPr>
          <p:cNvPr id="3" name="TextBox 2"/>
          <p:cNvSpPr txBox="1"/>
          <p:nvPr/>
        </p:nvSpPr>
        <p:spPr>
          <a:xfrm>
            <a:off x="594360" y="822960"/>
            <a:ext cx="8229600" cy="822960"/>
          </a:xfrm>
          <a:prstGeom prst="rect">
            <a:avLst/>
          </a:prstGeom>
          <a:noFill/>
        </p:spPr>
        <p:txBody>
          <a:bodyPr wrap="square" lIns="0" tIns="0" rIns="0" bIns="0" anchor="t">
            <a:spAutoFit/>
          </a:bodyPr>
          <a:lstStyle/>
          <a:p>
            <a:pPr algn="l"/>
            <a:r>
              <a:rPr sz="3800" b="1" i="0">
                <a:solidFill>
                  <a:srgbClr val="FBF7EF"/>
                </a:solidFill>
                <a:latin typeface="Century Gothic"/>
              </a:rPr>
              <a:t>Key Insight</a:t>
            </a:r>
          </a:p>
        </p:txBody>
      </p:sp>
      <p:sp>
        <p:nvSpPr>
          <p:cNvPr id="4" name="Rounded Rectangle 3"/>
          <p:cNvSpPr/>
          <p:nvPr/>
        </p:nvSpPr>
        <p:spPr>
          <a:xfrm>
            <a:off x="640080" y="1691640"/>
            <a:ext cx="10881360" cy="1600200"/>
          </a:xfrm>
          <a:prstGeom prst="roundRect">
            <a:avLst>
              <a:gd name="adj" fmla="val 6000"/>
            </a:avLst>
          </a:prstGeom>
          <a:solidFill>
            <a:srgbClr val="1C2E2A"/>
          </a:solidFill>
          <a:ln w="12700">
            <a:solidFill>
              <a:srgbClr val="3C6E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60120" y="1874519"/>
            <a:ext cx="10241280" cy="1280160"/>
          </a:xfrm>
          <a:prstGeom prst="rect">
            <a:avLst/>
          </a:prstGeom>
          <a:noFill/>
        </p:spPr>
        <p:txBody>
          <a:bodyPr wrap="square" lIns="0" tIns="0" rIns="0" bIns="0" anchor="t">
            <a:spAutoFit/>
          </a:bodyPr>
          <a:lstStyle/>
          <a:p>
            <a:pPr algn="l">
              <a:lnSpc>
                <a:spcPct val="125000"/>
              </a:lnSpc>
            </a:pPr>
            <a:r>
              <a:rPr sz="1450" b="0" i="1">
                <a:solidFill>
                  <a:srgbClr val="C9C2AE"/>
                </a:solidFill>
                <a:latin typeface="Georgia"/>
              </a:rPr>
              <a:t>Supertails has built real infrastructure — nationwide delivery, chat and video vet consultations, and now offline clinics in Bengaluru — but that infrastructure doesn't reach every persona equally. Metro users hit real but recoverable friction, like login loops and delayed "same-day" delivery, while rural and multi-pet power users hit structural gaps the app doesn't yet address at all: no livestock support, no bulk ordering, and no account model built for anyone managing more than one or two pets.</a:t>
            </a:r>
          </a:p>
        </p:txBody>
      </p:sp>
      <p:sp>
        <p:nvSpPr>
          <p:cNvPr id="6" name="Rounded Rectangle 5"/>
          <p:cNvSpPr/>
          <p:nvPr/>
        </p:nvSpPr>
        <p:spPr>
          <a:xfrm>
            <a:off x="640080" y="3611880"/>
            <a:ext cx="2011680" cy="1554480"/>
          </a:xfrm>
          <a:prstGeom prst="roundRect">
            <a:avLst>
              <a:gd name="adj" fmla="val 8000"/>
            </a:avLst>
          </a:prstGeom>
          <a:solidFill>
            <a:srgbClr val="1C2E2A"/>
          </a:solidFill>
          <a:ln w="12700">
            <a:solidFill>
              <a:srgbClr val="3C6E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371600" y="3794760"/>
            <a:ext cx="548640" cy="548640"/>
          </a:xfrm>
          <a:prstGeom prst="ellipse">
            <a:avLst/>
          </a:prstGeom>
          <a:solidFill>
            <a:srgbClr val="2F7A6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a:t>🔐</a:t>
            </a:r>
          </a:p>
        </p:txBody>
      </p:sp>
      <p:sp>
        <p:nvSpPr>
          <p:cNvPr id="8" name="TextBox 7"/>
          <p:cNvSpPr txBox="1"/>
          <p:nvPr/>
        </p:nvSpPr>
        <p:spPr>
          <a:xfrm>
            <a:off x="731520" y="4480560"/>
            <a:ext cx="1828800" cy="594360"/>
          </a:xfrm>
          <a:prstGeom prst="rect">
            <a:avLst/>
          </a:prstGeom>
          <a:noFill/>
        </p:spPr>
        <p:txBody>
          <a:bodyPr wrap="square" lIns="0" tIns="0" rIns="0" bIns="0" anchor="t">
            <a:spAutoFit/>
          </a:bodyPr>
          <a:lstStyle/>
          <a:p>
            <a:pPr algn="ctr">
              <a:lnSpc>
                <a:spcPct val="105000"/>
              </a:lnSpc>
            </a:pPr>
            <a:r>
              <a:rPr sz="1250" b="1" i="0">
                <a:solidFill>
                  <a:srgbClr val="FBF7EF"/>
                </a:solidFill>
                <a:latin typeface="Century Gothic"/>
              </a:rPr>
              <a:t>Login Reliability</a:t>
            </a:r>
          </a:p>
        </p:txBody>
      </p:sp>
      <p:sp>
        <p:nvSpPr>
          <p:cNvPr id="9" name="Rounded Rectangle 8"/>
          <p:cNvSpPr/>
          <p:nvPr/>
        </p:nvSpPr>
        <p:spPr>
          <a:xfrm>
            <a:off x="2852928" y="3611880"/>
            <a:ext cx="2011680" cy="1554480"/>
          </a:xfrm>
          <a:prstGeom prst="roundRect">
            <a:avLst>
              <a:gd name="adj" fmla="val 8000"/>
            </a:avLst>
          </a:prstGeom>
          <a:solidFill>
            <a:srgbClr val="1C2E2A"/>
          </a:solidFill>
          <a:ln w="12700">
            <a:solidFill>
              <a:srgbClr val="3C6E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3584448" y="3794760"/>
            <a:ext cx="548640" cy="548640"/>
          </a:xfrm>
          <a:prstGeom prst="ellipse">
            <a:avLst/>
          </a:prstGeom>
          <a:solidFill>
            <a:srgbClr val="2F7A6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a:t>🚚</a:t>
            </a:r>
          </a:p>
        </p:txBody>
      </p:sp>
      <p:sp>
        <p:nvSpPr>
          <p:cNvPr id="11" name="TextBox 10"/>
          <p:cNvSpPr txBox="1"/>
          <p:nvPr/>
        </p:nvSpPr>
        <p:spPr>
          <a:xfrm>
            <a:off x="2944368" y="4480560"/>
            <a:ext cx="1828800" cy="594360"/>
          </a:xfrm>
          <a:prstGeom prst="rect">
            <a:avLst/>
          </a:prstGeom>
          <a:noFill/>
        </p:spPr>
        <p:txBody>
          <a:bodyPr wrap="square" lIns="0" tIns="0" rIns="0" bIns="0" anchor="t">
            <a:spAutoFit/>
          </a:bodyPr>
          <a:lstStyle/>
          <a:p>
            <a:pPr algn="ctr">
              <a:lnSpc>
                <a:spcPct val="105000"/>
              </a:lnSpc>
            </a:pPr>
            <a:r>
              <a:rPr sz="1250" b="1" i="0">
                <a:solidFill>
                  <a:srgbClr val="FBF7EF"/>
                </a:solidFill>
                <a:latin typeface="Century Gothic"/>
              </a:rPr>
              <a:t>Delivery Promise vs. Reality</a:t>
            </a:r>
          </a:p>
        </p:txBody>
      </p:sp>
      <p:sp>
        <p:nvSpPr>
          <p:cNvPr id="12" name="Rounded Rectangle 11"/>
          <p:cNvSpPr/>
          <p:nvPr/>
        </p:nvSpPr>
        <p:spPr>
          <a:xfrm>
            <a:off x="5065776" y="3611880"/>
            <a:ext cx="2011680" cy="1554480"/>
          </a:xfrm>
          <a:prstGeom prst="roundRect">
            <a:avLst>
              <a:gd name="adj" fmla="val 8000"/>
            </a:avLst>
          </a:prstGeom>
          <a:solidFill>
            <a:srgbClr val="1C2E2A"/>
          </a:solidFill>
          <a:ln w="12700">
            <a:solidFill>
              <a:srgbClr val="3C6E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5797296" y="3794760"/>
            <a:ext cx="548640" cy="548640"/>
          </a:xfrm>
          <a:prstGeom prst="ellipse">
            <a:avLst/>
          </a:prstGeom>
          <a:solidFill>
            <a:srgbClr val="2F7A6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a:t>🏙</a:t>
            </a:r>
          </a:p>
        </p:txBody>
      </p:sp>
      <p:sp>
        <p:nvSpPr>
          <p:cNvPr id="14" name="TextBox 13"/>
          <p:cNvSpPr txBox="1"/>
          <p:nvPr/>
        </p:nvSpPr>
        <p:spPr>
          <a:xfrm>
            <a:off x="5157216" y="4480560"/>
            <a:ext cx="1828800" cy="594360"/>
          </a:xfrm>
          <a:prstGeom prst="rect">
            <a:avLst/>
          </a:prstGeom>
          <a:noFill/>
        </p:spPr>
        <p:txBody>
          <a:bodyPr wrap="square" lIns="0" tIns="0" rIns="0" bIns="0" anchor="t">
            <a:spAutoFit/>
          </a:bodyPr>
          <a:lstStyle/>
          <a:p>
            <a:pPr algn="ctr">
              <a:lnSpc>
                <a:spcPct val="105000"/>
              </a:lnSpc>
            </a:pPr>
            <a:r>
              <a:rPr sz="1250" b="1" i="0">
                <a:solidFill>
                  <a:srgbClr val="FBF7EF"/>
                </a:solidFill>
                <a:latin typeface="Century Gothic"/>
              </a:rPr>
              <a:t>Metro-First Coverage</a:t>
            </a:r>
          </a:p>
        </p:txBody>
      </p:sp>
      <p:sp>
        <p:nvSpPr>
          <p:cNvPr id="15" name="Rounded Rectangle 14"/>
          <p:cNvSpPr/>
          <p:nvPr/>
        </p:nvSpPr>
        <p:spPr>
          <a:xfrm>
            <a:off x="7278624" y="3611880"/>
            <a:ext cx="2011680" cy="1554480"/>
          </a:xfrm>
          <a:prstGeom prst="roundRect">
            <a:avLst>
              <a:gd name="adj" fmla="val 8000"/>
            </a:avLst>
          </a:prstGeom>
          <a:solidFill>
            <a:srgbClr val="1C2E2A"/>
          </a:solidFill>
          <a:ln w="12700">
            <a:solidFill>
              <a:srgbClr val="3C6E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8010144" y="3794760"/>
            <a:ext cx="548640" cy="548640"/>
          </a:xfrm>
          <a:prstGeom prst="ellipse">
            <a:avLst/>
          </a:prstGeom>
          <a:solidFill>
            <a:srgbClr val="2F7A6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a:t>🐄</a:t>
            </a:r>
          </a:p>
        </p:txBody>
      </p:sp>
      <p:sp>
        <p:nvSpPr>
          <p:cNvPr id="17" name="TextBox 16"/>
          <p:cNvSpPr txBox="1"/>
          <p:nvPr/>
        </p:nvSpPr>
        <p:spPr>
          <a:xfrm>
            <a:off x="7370064" y="4480560"/>
            <a:ext cx="1828800" cy="594360"/>
          </a:xfrm>
          <a:prstGeom prst="rect">
            <a:avLst/>
          </a:prstGeom>
          <a:noFill/>
        </p:spPr>
        <p:txBody>
          <a:bodyPr wrap="square" lIns="0" tIns="0" rIns="0" bIns="0" anchor="t">
            <a:spAutoFit/>
          </a:bodyPr>
          <a:lstStyle/>
          <a:p>
            <a:pPr algn="ctr">
              <a:lnSpc>
                <a:spcPct val="105000"/>
              </a:lnSpc>
            </a:pPr>
            <a:r>
              <a:rPr sz="1250" b="1" i="0">
                <a:solidFill>
                  <a:srgbClr val="FBF7EF"/>
                </a:solidFill>
                <a:latin typeface="Century Gothic"/>
              </a:rPr>
              <a:t>Beyond Cats &amp; Dogs</a:t>
            </a:r>
          </a:p>
        </p:txBody>
      </p:sp>
      <p:sp>
        <p:nvSpPr>
          <p:cNvPr id="18" name="Rounded Rectangle 17"/>
          <p:cNvSpPr/>
          <p:nvPr/>
        </p:nvSpPr>
        <p:spPr>
          <a:xfrm>
            <a:off x="9491472" y="3611880"/>
            <a:ext cx="2011680" cy="1554480"/>
          </a:xfrm>
          <a:prstGeom prst="roundRect">
            <a:avLst>
              <a:gd name="adj" fmla="val 8000"/>
            </a:avLst>
          </a:prstGeom>
          <a:solidFill>
            <a:srgbClr val="1C2E2A"/>
          </a:solidFill>
          <a:ln w="12700">
            <a:solidFill>
              <a:srgbClr val="3C6E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0222992" y="3794760"/>
            <a:ext cx="548640" cy="548640"/>
          </a:xfrm>
          <a:prstGeom prst="ellipse">
            <a:avLst/>
          </a:prstGeom>
          <a:solidFill>
            <a:srgbClr val="2F7A6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a:t>📦</a:t>
            </a:r>
          </a:p>
        </p:txBody>
      </p:sp>
      <p:sp>
        <p:nvSpPr>
          <p:cNvPr id="20" name="TextBox 19"/>
          <p:cNvSpPr txBox="1"/>
          <p:nvPr/>
        </p:nvSpPr>
        <p:spPr>
          <a:xfrm>
            <a:off x="9582912" y="4480560"/>
            <a:ext cx="1828800" cy="594360"/>
          </a:xfrm>
          <a:prstGeom prst="rect">
            <a:avLst/>
          </a:prstGeom>
          <a:noFill/>
        </p:spPr>
        <p:txBody>
          <a:bodyPr wrap="square" lIns="0" tIns="0" rIns="0" bIns="0" anchor="t">
            <a:spAutoFit/>
          </a:bodyPr>
          <a:lstStyle/>
          <a:p>
            <a:pPr algn="ctr">
              <a:lnSpc>
                <a:spcPct val="105000"/>
              </a:lnSpc>
            </a:pPr>
            <a:r>
              <a:rPr sz="1250" b="1" i="0">
                <a:solidFill>
                  <a:srgbClr val="FBF7EF"/>
                </a:solidFill>
                <a:latin typeface="Century Gothic"/>
              </a:rPr>
              <a:t>No Multi-Pet at Scale</a:t>
            </a:r>
          </a:p>
        </p:txBody>
      </p:sp>
      <p:sp>
        <p:nvSpPr>
          <p:cNvPr id="21" name="TextBox 20"/>
          <p:cNvSpPr txBox="1"/>
          <p:nvPr/>
        </p:nvSpPr>
        <p:spPr>
          <a:xfrm>
            <a:off x="1097280" y="5532120"/>
            <a:ext cx="10058400" cy="914400"/>
          </a:xfrm>
          <a:prstGeom prst="rect">
            <a:avLst/>
          </a:prstGeom>
          <a:noFill/>
        </p:spPr>
        <p:txBody>
          <a:bodyPr wrap="square" lIns="0" tIns="0" rIns="0" bIns="0" anchor="t">
            <a:spAutoFit/>
          </a:bodyPr>
          <a:lstStyle/>
          <a:p>
            <a:pPr algn="ctr">
              <a:lnSpc>
                <a:spcPct val="130000"/>
              </a:lnSpc>
            </a:pPr>
            <a:r>
              <a:rPr sz="1350" b="0" i="1">
                <a:solidFill>
                  <a:srgbClr val="C9C2AE"/>
                </a:solidFill>
                <a:latin typeface="Georgia"/>
              </a:rPr>
              <a:t>Supertails has genuinely solved pet care access for a first-time urban pet parent — the real test now is whether it can extend that same reliability to rural, multi-pet, and professional users without breaking what already works.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1248</Words>
  <Application>Microsoft Office PowerPoint</Application>
  <PresentationFormat>Widescreen</PresentationFormat>
  <Paragraphs>204</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Calibri</vt:lpstr>
      <vt:lpstr>Century Gothic</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Harsh raj choudhary</cp:lastModifiedBy>
  <cp:revision>2</cp:revision>
  <dcterms:created xsi:type="dcterms:W3CDTF">2013-01-27T09:14:16Z</dcterms:created>
  <dcterms:modified xsi:type="dcterms:W3CDTF">2026-08-11T06:14:29Z</dcterms:modified>
  <cp:category/>
</cp:coreProperties>
</file>